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8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9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914400"/>
            <a:ext cx="82296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AI-Guided Vendor Analysis</a:t>
            </a:r>
            <a:endParaRPr lang="en-US" sz="4000" dirty="0"/>
          </a:p>
        </p:txBody>
      </p:sp>
      <p:sp>
        <p:nvSpPr>
          <p:cNvPr id="4" name="Text 2"/>
          <p:cNvSpPr/>
          <p:nvPr/>
        </p:nvSpPr>
        <p:spPr>
          <a:xfrm>
            <a:off x="457200" y="2103120"/>
            <a:ext cx="8229600" cy="548640"/>
          </a:xfrm>
          <a:prstGeom prst="rect">
            <a:avLst/>
          </a:prstGeom>
          <a:noFill/>
          <a:ln/>
        </p:spPr>
        <p:txBody>
          <a:bodyPr wrap="square" rtlCol="0" anchor="ctr"/>
          <a:lstStyle/>
          <a:p>
            <a:pPr marL="0" indent="0">
              <a:buNone/>
            </a:pPr>
            <a:r>
              <a:rPr lang="en-US" sz="2200" dirty="0">
                <a:solidFill>
                  <a:srgbClr val="CBD5E1"/>
                </a:solidFill>
                <a:latin typeface="Calibri" pitchFamily="34" charset="0"/>
                <a:ea typeface="Calibri" pitchFamily="34" charset="-122"/>
                <a:cs typeface="Calibri" pitchFamily="34" charset="-120"/>
              </a:rPr>
              <a:t>SUNY AI Advising Pilot  ·  Steering Team</a:t>
            </a:r>
            <a:endParaRPr lang="en-US" sz="2200" dirty="0"/>
          </a:p>
        </p:txBody>
      </p:sp>
      <p:sp>
        <p:nvSpPr>
          <p:cNvPr id="5" name="Text 3"/>
          <p:cNvSpPr/>
          <p:nvPr/>
        </p:nvSpPr>
        <p:spPr>
          <a:xfrm>
            <a:off x="457200" y="4434840"/>
            <a:ext cx="822960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March 2026  ·  AIX Center, SUNY Polytechnic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274320" y="0"/>
            <a:ext cx="5486400" cy="5943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Vendor Capability Map</a:t>
            </a:r>
            <a:endParaRPr lang="en-US" sz="1600" dirty="0"/>
          </a:p>
        </p:txBody>
      </p:sp>
      <p:sp>
        <p:nvSpPr>
          <p:cNvPr id="4" name="Text 2"/>
          <p:cNvSpPr/>
          <p:nvPr/>
        </p:nvSpPr>
        <p:spPr>
          <a:xfrm>
            <a:off x="4114800" y="0"/>
            <a:ext cx="4754880" cy="594360"/>
          </a:xfrm>
          <a:prstGeom prst="rect">
            <a:avLst/>
          </a:prstGeom>
          <a:noFill/>
          <a:ln/>
        </p:spPr>
        <p:txBody>
          <a:bodyPr wrap="square" rtlCol="0" anchor="ctr"/>
          <a:lstStyle/>
          <a:p>
            <a:pPr marL="0" indent="0" algn="r">
              <a:buNone/>
            </a:pPr>
            <a:r>
              <a:rPr lang="en-US" sz="900" i="1" dirty="0">
                <a:solidFill>
                  <a:srgbClr val="CBD5E1"/>
                </a:solidFill>
                <a:latin typeface="Calibri" pitchFamily="34" charset="0"/>
                <a:ea typeface="Calibri" pitchFamily="34" charset="-122"/>
                <a:cs typeface="Calibri" pitchFamily="34" charset="-120"/>
              </a:rPr>
              <a:t>Derived from SOI, vendor materials, and demo transcripts</a:t>
            </a:r>
            <a:endParaRPr lang="en-US" sz="900" dirty="0"/>
          </a:p>
        </p:txBody>
      </p:sp>
      <p:sp>
        <p:nvSpPr>
          <p:cNvPr id="5" name="Text 3"/>
          <p:cNvSpPr/>
          <p:nvPr/>
        </p:nvSpPr>
        <p:spPr>
          <a:xfrm>
            <a:off x="2194560"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D2L</a:t>
            </a:r>
            <a:endParaRPr lang="en-US" sz="950" dirty="0"/>
          </a:p>
        </p:txBody>
      </p:sp>
      <p:sp>
        <p:nvSpPr>
          <p:cNvPr id="6" name="Text 4"/>
          <p:cNvSpPr/>
          <p:nvPr/>
        </p:nvSpPr>
        <p:spPr>
          <a:xfrm>
            <a:off x="3401568"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EAB</a:t>
            </a:r>
            <a:endParaRPr lang="en-US" sz="950" dirty="0"/>
          </a:p>
        </p:txBody>
      </p:sp>
      <p:sp>
        <p:nvSpPr>
          <p:cNvPr id="7" name="Text 5"/>
          <p:cNvSpPr/>
          <p:nvPr/>
        </p:nvSpPr>
        <p:spPr>
          <a:xfrm>
            <a:off x="4608576"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Ellucian</a:t>
            </a:r>
            <a:endParaRPr lang="en-US" sz="950" dirty="0"/>
          </a:p>
        </p:txBody>
      </p:sp>
      <p:sp>
        <p:nvSpPr>
          <p:cNvPr id="8" name="Text 6"/>
          <p:cNvSpPr/>
          <p:nvPr/>
        </p:nvSpPr>
        <p:spPr>
          <a:xfrm>
            <a:off x="5815584"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Gravyty</a:t>
            </a:r>
            <a:endParaRPr lang="en-US" sz="950" dirty="0"/>
          </a:p>
        </p:txBody>
      </p:sp>
      <p:sp>
        <p:nvSpPr>
          <p:cNvPr id="9" name="Text 7"/>
          <p:cNvSpPr/>
          <p:nvPr/>
        </p:nvSpPr>
        <p:spPr>
          <a:xfrm>
            <a:off x="7022592"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Nerdery</a:t>
            </a:r>
            <a:endParaRPr lang="en-US" sz="950" dirty="0"/>
          </a:p>
        </p:txBody>
      </p:sp>
      <p:sp>
        <p:nvSpPr>
          <p:cNvPr id="10" name="Text 8"/>
          <p:cNvSpPr/>
          <p:nvPr/>
        </p:nvSpPr>
        <p:spPr>
          <a:xfrm>
            <a:off x="8229600" y="685800"/>
            <a:ext cx="1161288" cy="320040"/>
          </a:xfrm>
          <a:prstGeom prst="rect">
            <a:avLst/>
          </a:prstGeom>
          <a:noFill/>
          <a:ln/>
        </p:spPr>
        <p:txBody>
          <a:bodyPr wrap="square"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Royal</a:t>
            </a:r>
            <a:endParaRPr lang="en-US" sz="950" dirty="0"/>
          </a:p>
          <a:p>
            <a:pPr marL="0" indent="0" algn="ctr">
              <a:buNone/>
            </a:pPr>
            <a:r>
              <a:rPr lang="en-US" sz="950" b="1" dirty="0">
                <a:solidFill>
                  <a:srgbClr val="1B2A4A"/>
                </a:solidFill>
                <a:latin typeface="Calibri" pitchFamily="34" charset="0"/>
                <a:ea typeface="Calibri" pitchFamily="34" charset="-122"/>
                <a:cs typeface="Calibri" pitchFamily="34" charset="-120"/>
              </a:rPr>
              <a:t>Cyber</a:t>
            </a:r>
            <a:endParaRPr lang="en-US" sz="950" dirty="0"/>
          </a:p>
        </p:txBody>
      </p:sp>
      <p:sp>
        <p:nvSpPr>
          <p:cNvPr id="11" name="Shape 9"/>
          <p:cNvSpPr/>
          <p:nvPr/>
        </p:nvSpPr>
        <p:spPr>
          <a:xfrm>
            <a:off x="91440" y="1024128"/>
            <a:ext cx="2011680" cy="202997"/>
          </a:xfrm>
          <a:prstGeom prst="rect">
            <a:avLst/>
          </a:prstGeom>
          <a:solidFill>
            <a:srgbClr val="1B2A4A"/>
          </a:solidFill>
          <a:ln w="12700">
            <a:solidFill>
              <a:srgbClr val="1B2A4A"/>
            </a:solidFill>
            <a:prstDash val="solid"/>
          </a:ln>
        </p:spPr>
        <p:txBody>
          <a:bodyPr/>
          <a:lstStyle/>
          <a:p>
            <a:endParaRPr lang="en-US"/>
          </a:p>
        </p:txBody>
      </p:sp>
      <p:sp>
        <p:nvSpPr>
          <p:cNvPr id="12" name="Text 10"/>
          <p:cNvSpPr/>
          <p:nvPr/>
        </p:nvSpPr>
        <p:spPr>
          <a:xfrm>
            <a:off x="109728" y="1024128"/>
            <a:ext cx="1993392" cy="202997"/>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STUDENT-FACING</a:t>
            </a:r>
            <a:endParaRPr lang="en-US" sz="750" dirty="0"/>
          </a:p>
        </p:txBody>
      </p:sp>
      <p:sp>
        <p:nvSpPr>
          <p:cNvPr id="13" name="Text 11"/>
          <p:cNvSpPr/>
          <p:nvPr/>
        </p:nvSpPr>
        <p:spPr>
          <a:xfrm>
            <a:off x="91440" y="1227125"/>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Course &amp; degree guidance</a:t>
            </a:r>
            <a:endParaRPr lang="en-US" sz="800" dirty="0"/>
          </a:p>
        </p:txBody>
      </p:sp>
      <p:sp>
        <p:nvSpPr>
          <p:cNvPr id="14" name="Shape 12"/>
          <p:cNvSpPr/>
          <p:nvPr/>
        </p:nvSpPr>
        <p:spPr>
          <a:xfrm>
            <a:off x="2468880" y="1245413"/>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5" name="Text 13"/>
          <p:cNvSpPr/>
          <p:nvPr/>
        </p:nvSpPr>
        <p:spPr>
          <a:xfrm>
            <a:off x="2468880"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3675888" y="124541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7" name="Text 15"/>
          <p:cNvSpPr/>
          <p:nvPr/>
        </p:nvSpPr>
        <p:spPr>
          <a:xfrm>
            <a:off x="3675888"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 name="Shape 16"/>
          <p:cNvSpPr/>
          <p:nvPr/>
        </p:nvSpPr>
        <p:spPr>
          <a:xfrm>
            <a:off x="4882896" y="124541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9" name="Text 17"/>
          <p:cNvSpPr/>
          <p:nvPr/>
        </p:nvSpPr>
        <p:spPr>
          <a:xfrm>
            <a:off x="4882896"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6089904" y="124541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1" name="Text 19"/>
          <p:cNvSpPr/>
          <p:nvPr/>
        </p:nvSpPr>
        <p:spPr>
          <a:xfrm>
            <a:off x="6089904"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7296912" y="124541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3" name="Text 21"/>
          <p:cNvSpPr/>
          <p:nvPr/>
        </p:nvSpPr>
        <p:spPr>
          <a:xfrm>
            <a:off x="7296912"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 name="Shape 22"/>
          <p:cNvSpPr/>
          <p:nvPr/>
        </p:nvSpPr>
        <p:spPr>
          <a:xfrm>
            <a:off x="8503920" y="124541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5" name="Text 23"/>
          <p:cNvSpPr/>
          <p:nvPr/>
        </p:nvSpPr>
        <p:spPr>
          <a:xfrm>
            <a:off x="8503920" y="124541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6" name="Text 24"/>
          <p:cNvSpPr/>
          <p:nvPr/>
        </p:nvSpPr>
        <p:spPr>
          <a:xfrm>
            <a:off x="91440" y="1430122"/>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Degree progress / what-if</a:t>
            </a:r>
            <a:endParaRPr lang="en-US" sz="800" dirty="0"/>
          </a:p>
        </p:txBody>
      </p:sp>
      <p:sp>
        <p:nvSpPr>
          <p:cNvPr id="27" name="Shape 25"/>
          <p:cNvSpPr/>
          <p:nvPr/>
        </p:nvSpPr>
        <p:spPr>
          <a:xfrm>
            <a:off x="2468880" y="1448410"/>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28" name="Text 26"/>
          <p:cNvSpPr/>
          <p:nvPr/>
        </p:nvSpPr>
        <p:spPr>
          <a:xfrm>
            <a:off x="2468880"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3675888" y="144841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30" name="Text 28"/>
          <p:cNvSpPr/>
          <p:nvPr/>
        </p:nvSpPr>
        <p:spPr>
          <a:xfrm>
            <a:off x="3675888"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31" name="Shape 29"/>
          <p:cNvSpPr/>
          <p:nvPr/>
        </p:nvSpPr>
        <p:spPr>
          <a:xfrm>
            <a:off x="4882896" y="144841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32" name="Text 30"/>
          <p:cNvSpPr/>
          <p:nvPr/>
        </p:nvSpPr>
        <p:spPr>
          <a:xfrm>
            <a:off x="4882896"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33" name="Shape 31"/>
          <p:cNvSpPr/>
          <p:nvPr/>
        </p:nvSpPr>
        <p:spPr>
          <a:xfrm>
            <a:off x="6089904" y="1448410"/>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34" name="Text 32"/>
          <p:cNvSpPr/>
          <p:nvPr/>
        </p:nvSpPr>
        <p:spPr>
          <a:xfrm>
            <a:off x="6089904"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35" name="Shape 33"/>
          <p:cNvSpPr/>
          <p:nvPr/>
        </p:nvSpPr>
        <p:spPr>
          <a:xfrm>
            <a:off x="7296912" y="144841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36" name="Text 34"/>
          <p:cNvSpPr/>
          <p:nvPr/>
        </p:nvSpPr>
        <p:spPr>
          <a:xfrm>
            <a:off x="7296912"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37" name="Shape 35"/>
          <p:cNvSpPr/>
          <p:nvPr/>
        </p:nvSpPr>
        <p:spPr>
          <a:xfrm>
            <a:off x="8503920" y="1448410"/>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38" name="Text 36"/>
          <p:cNvSpPr/>
          <p:nvPr/>
        </p:nvSpPr>
        <p:spPr>
          <a:xfrm>
            <a:off x="8503920" y="144841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39" name="Text 37"/>
          <p:cNvSpPr/>
          <p:nvPr/>
        </p:nvSpPr>
        <p:spPr>
          <a:xfrm>
            <a:off x="91440" y="1633118"/>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Financial aid &amp; FAFSA</a:t>
            </a:r>
            <a:endParaRPr lang="en-US" sz="800" dirty="0"/>
          </a:p>
        </p:txBody>
      </p:sp>
      <p:sp>
        <p:nvSpPr>
          <p:cNvPr id="40" name="Shape 38"/>
          <p:cNvSpPr/>
          <p:nvPr/>
        </p:nvSpPr>
        <p:spPr>
          <a:xfrm>
            <a:off x="2468880" y="1651406"/>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41" name="Text 39"/>
          <p:cNvSpPr/>
          <p:nvPr/>
        </p:nvSpPr>
        <p:spPr>
          <a:xfrm>
            <a:off x="2468880"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42" name="Shape 40"/>
          <p:cNvSpPr/>
          <p:nvPr/>
        </p:nvSpPr>
        <p:spPr>
          <a:xfrm>
            <a:off x="3675888" y="1651406"/>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43" name="Text 41"/>
          <p:cNvSpPr/>
          <p:nvPr/>
        </p:nvSpPr>
        <p:spPr>
          <a:xfrm>
            <a:off x="3675888"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44" name="Shape 42"/>
          <p:cNvSpPr/>
          <p:nvPr/>
        </p:nvSpPr>
        <p:spPr>
          <a:xfrm>
            <a:off x="4882896" y="1651406"/>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45" name="Text 43"/>
          <p:cNvSpPr/>
          <p:nvPr/>
        </p:nvSpPr>
        <p:spPr>
          <a:xfrm>
            <a:off x="4882896"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46" name="Shape 44"/>
          <p:cNvSpPr/>
          <p:nvPr/>
        </p:nvSpPr>
        <p:spPr>
          <a:xfrm>
            <a:off x="6089904" y="1651406"/>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47" name="Text 45"/>
          <p:cNvSpPr/>
          <p:nvPr/>
        </p:nvSpPr>
        <p:spPr>
          <a:xfrm>
            <a:off x="6089904"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48" name="Shape 46"/>
          <p:cNvSpPr/>
          <p:nvPr/>
        </p:nvSpPr>
        <p:spPr>
          <a:xfrm>
            <a:off x="7296912" y="1651406"/>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49" name="Text 47"/>
          <p:cNvSpPr/>
          <p:nvPr/>
        </p:nvSpPr>
        <p:spPr>
          <a:xfrm>
            <a:off x="7296912"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50" name="Shape 48"/>
          <p:cNvSpPr/>
          <p:nvPr/>
        </p:nvSpPr>
        <p:spPr>
          <a:xfrm>
            <a:off x="8503920" y="1651406"/>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51" name="Text 49"/>
          <p:cNvSpPr/>
          <p:nvPr/>
        </p:nvSpPr>
        <p:spPr>
          <a:xfrm>
            <a:off x="8503920" y="1651406"/>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52" name="Text 50"/>
          <p:cNvSpPr/>
          <p:nvPr/>
        </p:nvSpPr>
        <p:spPr>
          <a:xfrm>
            <a:off x="91440" y="1836115"/>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Transfer credit</a:t>
            </a:r>
            <a:endParaRPr lang="en-US" sz="800" dirty="0"/>
          </a:p>
        </p:txBody>
      </p:sp>
      <p:sp>
        <p:nvSpPr>
          <p:cNvPr id="53" name="Shape 51"/>
          <p:cNvSpPr/>
          <p:nvPr/>
        </p:nvSpPr>
        <p:spPr>
          <a:xfrm>
            <a:off x="2468880" y="1854403"/>
            <a:ext cx="457200" cy="166421"/>
          </a:xfrm>
          <a:prstGeom prst="rect">
            <a:avLst/>
          </a:prstGeom>
          <a:solidFill>
            <a:srgbClr val="EF4444">
              <a:alpha val="75000"/>
            </a:srgbClr>
          </a:solidFill>
          <a:ln w="12700">
            <a:solidFill>
              <a:srgbClr val="EF4444"/>
            </a:solidFill>
            <a:prstDash val="solid"/>
          </a:ln>
        </p:spPr>
        <p:txBody>
          <a:bodyPr/>
          <a:lstStyle/>
          <a:p>
            <a:endParaRPr lang="en-US"/>
          </a:p>
        </p:txBody>
      </p:sp>
      <p:sp>
        <p:nvSpPr>
          <p:cNvPr id="54" name="Text 52"/>
          <p:cNvSpPr/>
          <p:nvPr/>
        </p:nvSpPr>
        <p:spPr>
          <a:xfrm>
            <a:off x="2468880" y="1854403"/>
            <a:ext cx="457200" cy="166421"/>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55" name="Shape 53"/>
          <p:cNvSpPr/>
          <p:nvPr/>
        </p:nvSpPr>
        <p:spPr>
          <a:xfrm>
            <a:off x="3675888" y="1854403"/>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56" name="Text 54"/>
          <p:cNvSpPr/>
          <p:nvPr/>
        </p:nvSpPr>
        <p:spPr>
          <a:xfrm>
            <a:off x="3675888" y="185440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57" name="Shape 55"/>
          <p:cNvSpPr/>
          <p:nvPr/>
        </p:nvSpPr>
        <p:spPr>
          <a:xfrm>
            <a:off x="4882896" y="1854403"/>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58" name="Text 56"/>
          <p:cNvSpPr/>
          <p:nvPr/>
        </p:nvSpPr>
        <p:spPr>
          <a:xfrm>
            <a:off x="4882896" y="185440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59" name="Shape 57"/>
          <p:cNvSpPr/>
          <p:nvPr/>
        </p:nvSpPr>
        <p:spPr>
          <a:xfrm>
            <a:off x="6089904" y="1854403"/>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60" name="Text 58"/>
          <p:cNvSpPr/>
          <p:nvPr/>
        </p:nvSpPr>
        <p:spPr>
          <a:xfrm>
            <a:off x="6089904" y="185440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61" name="Shape 59"/>
          <p:cNvSpPr/>
          <p:nvPr/>
        </p:nvSpPr>
        <p:spPr>
          <a:xfrm>
            <a:off x="7296912" y="1854403"/>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62" name="Text 60"/>
          <p:cNvSpPr/>
          <p:nvPr/>
        </p:nvSpPr>
        <p:spPr>
          <a:xfrm>
            <a:off x="7296912" y="185440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63" name="Shape 61"/>
          <p:cNvSpPr/>
          <p:nvPr/>
        </p:nvSpPr>
        <p:spPr>
          <a:xfrm>
            <a:off x="8503920" y="1854403"/>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64" name="Text 62"/>
          <p:cNvSpPr/>
          <p:nvPr/>
        </p:nvSpPr>
        <p:spPr>
          <a:xfrm>
            <a:off x="8503920" y="1854403"/>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65" name="Text 63"/>
          <p:cNvSpPr/>
          <p:nvPr/>
        </p:nvSpPr>
        <p:spPr>
          <a:xfrm>
            <a:off x="91440" y="2039112"/>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24/7 chatbot</a:t>
            </a:r>
            <a:endParaRPr lang="en-US" sz="800" dirty="0"/>
          </a:p>
        </p:txBody>
      </p:sp>
      <p:sp>
        <p:nvSpPr>
          <p:cNvPr id="66" name="Shape 64"/>
          <p:cNvSpPr/>
          <p:nvPr/>
        </p:nvSpPr>
        <p:spPr>
          <a:xfrm>
            <a:off x="2468880" y="2057400"/>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67" name="Text 65"/>
          <p:cNvSpPr/>
          <p:nvPr/>
        </p:nvSpPr>
        <p:spPr>
          <a:xfrm>
            <a:off x="2468880"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68" name="Shape 66"/>
          <p:cNvSpPr/>
          <p:nvPr/>
        </p:nvSpPr>
        <p:spPr>
          <a:xfrm>
            <a:off x="3675888" y="205740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69" name="Text 67"/>
          <p:cNvSpPr/>
          <p:nvPr/>
        </p:nvSpPr>
        <p:spPr>
          <a:xfrm>
            <a:off x="3675888"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70" name="Shape 68"/>
          <p:cNvSpPr/>
          <p:nvPr/>
        </p:nvSpPr>
        <p:spPr>
          <a:xfrm>
            <a:off x="4882896" y="205740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71" name="Text 69"/>
          <p:cNvSpPr/>
          <p:nvPr/>
        </p:nvSpPr>
        <p:spPr>
          <a:xfrm>
            <a:off x="4882896"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72" name="Shape 70"/>
          <p:cNvSpPr/>
          <p:nvPr/>
        </p:nvSpPr>
        <p:spPr>
          <a:xfrm>
            <a:off x="6089904" y="205740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73" name="Text 71"/>
          <p:cNvSpPr/>
          <p:nvPr/>
        </p:nvSpPr>
        <p:spPr>
          <a:xfrm>
            <a:off x="6089904"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74" name="Shape 72"/>
          <p:cNvSpPr/>
          <p:nvPr/>
        </p:nvSpPr>
        <p:spPr>
          <a:xfrm>
            <a:off x="7296912" y="205740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75" name="Text 73"/>
          <p:cNvSpPr/>
          <p:nvPr/>
        </p:nvSpPr>
        <p:spPr>
          <a:xfrm>
            <a:off x="7296912"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76" name="Shape 74"/>
          <p:cNvSpPr/>
          <p:nvPr/>
        </p:nvSpPr>
        <p:spPr>
          <a:xfrm>
            <a:off x="8503920" y="205740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77" name="Text 75"/>
          <p:cNvSpPr/>
          <p:nvPr/>
        </p:nvSpPr>
        <p:spPr>
          <a:xfrm>
            <a:off x="8503920" y="205740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78" name="Text 76"/>
          <p:cNvSpPr/>
          <p:nvPr/>
        </p:nvSpPr>
        <p:spPr>
          <a:xfrm>
            <a:off x="91440" y="2242109"/>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Campus resource navigation</a:t>
            </a:r>
            <a:endParaRPr lang="en-US" sz="800" dirty="0"/>
          </a:p>
        </p:txBody>
      </p:sp>
      <p:sp>
        <p:nvSpPr>
          <p:cNvPr id="79" name="Shape 77"/>
          <p:cNvSpPr/>
          <p:nvPr/>
        </p:nvSpPr>
        <p:spPr>
          <a:xfrm>
            <a:off x="2468880" y="2260397"/>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80" name="Text 78"/>
          <p:cNvSpPr/>
          <p:nvPr/>
        </p:nvSpPr>
        <p:spPr>
          <a:xfrm>
            <a:off x="2468880"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81" name="Shape 79"/>
          <p:cNvSpPr/>
          <p:nvPr/>
        </p:nvSpPr>
        <p:spPr>
          <a:xfrm>
            <a:off x="3675888" y="2260397"/>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82" name="Text 80"/>
          <p:cNvSpPr/>
          <p:nvPr/>
        </p:nvSpPr>
        <p:spPr>
          <a:xfrm>
            <a:off x="3675888"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83" name="Shape 81"/>
          <p:cNvSpPr/>
          <p:nvPr/>
        </p:nvSpPr>
        <p:spPr>
          <a:xfrm>
            <a:off x="4882896" y="2260397"/>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84" name="Text 82"/>
          <p:cNvSpPr/>
          <p:nvPr/>
        </p:nvSpPr>
        <p:spPr>
          <a:xfrm>
            <a:off x="4882896"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85" name="Shape 83"/>
          <p:cNvSpPr/>
          <p:nvPr/>
        </p:nvSpPr>
        <p:spPr>
          <a:xfrm>
            <a:off x="6089904" y="226039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86" name="Text 84"/>
          <p:cNvSpPr/>
          <p:nvPr/>
        </p:nvSpPr>
        <p:spPr>
          <a:xfrm>
            <a:off x="6089904"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87" name="Shape 85"/>
          <p:cNvSpPr/>
          <p:nvPr/>
        </p:nvSpPr>
        <p:spPr>
          <a:xfrm>
            <a:off x="7296912" y="2260397"/>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88" name="Text 86"/>
          <p:cNvSpPr/>
          <p:nvPr/>
        </p:nvSpPr>
        <p:spPr>
          <a:xfrm>
            <a:off x="7296912"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89" name="Shape 87"/>
          <p:cNvSpPr/>
          <p:nvPr/>
        </p:nvSpPr>
        <p:spPr>
          <a:xfrm>
            <a:off x="8503920" y="226039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90" name="Text 88"/>
          <p:cNvSpPr/>
          <p:nvPr/>
        </p:nvSpPr>
        <p:spPr>
          <a:xfrm>
            <a:off x="8503920" y="226039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91" name="Shape 89"/>
          <p:cNvSpPr/>
          <p:nvPr/>
        </p:nvSpPr>
        <p:spPr>
          <a:xfrm>
            <a:off x="91440" y="2445106"/>
            <a:ext cx="2011680" cy="202997"/>
          </a:xfrm>
          <a:prstGeom prst="rect">
            <a:avLst/>
          </a:prstGeom>
          <a:solidFill>
            <a:srgbClr val="1B2A4A"/>
          </a:solidFill>
          <a:ln w="12700">
            <a:solidFill>
              <a:srgbClr val="1B2A4A"/>
            </a:solidFill>
            <a:prstDash val="solid"/>
          </a:ln>
        </p:spPr>
        <p:txBody>
          <a:bodyPr/>
          <a:lstStyle/>
          <a:p>
            <a:endParaRPr lang="en-US"/>
          </a:p>
        </p:txBody>
      </p:sp>
      <p:sp>
        <p:nvSpPr>
          <p:cNvPr id="92" name="Text 90"/>
          <p:cNvSpPr/>
          <p:nvPr/>
        </p:nvSpPr>
        <p:spPr>
          <a:xfrm>
            <a:off x="109728" y="2445106"/>
            <a:ext cx="1993392" cy="202997"/>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ADVISOR &amp; INSTITUTIONAL</a:t>
            </a:r>
            <a:endParaRPr lang="en-US" sz="750" dirty="0"/>
          </a:p>
        </p:txBody>
      </p:sp>
      <p:sp>
        <p:nvSpPr>
          <p:cNvPr id="93" name="Text 91"/>
          <p:cNvSpPr/>
          <p:nvPr/>
        </p:nvSpPr>
        <p:spPr>
          <a:xfrm>
            <a:off x="91440" y="2648102"/>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Advisor dashboard &amp; queues</a:t>
            </a:r>
            <a:endParaRPr lang="en-US" sz="800" dirty="0"/>
          </a:p>
        </p:txBody>
      </p:sp>
      <p:sp>
        <p:nvSpPr>
          <p:cNvPr id="94" name="Shape 92"/>
          <p:cNvSpPr/>
          <p:nvPr/>
        </p:nvSpPr>
        <p:spPr>
          <a:xfrm>
            <a:off x="2468880" y="2666390"/>
            <a:ext cx="457200" cy="166421"/>
          </a:xfrm>
          <a:prstGeom prst="rect">
            <a:avLst/>
          </a:prstGeom>
          <a:solidFill>
            <a:srgbClr val="EF4444">
              <a:alpha val="75000"/>
            </a:srgbClr>
          </a:solidFill>
          <a:ln w="12700">
            <a:solidFill>
              <a:srgbClr val="EF4444"/>
            </a:solidFill>
            <a:prstDash val="solid"/>
          </a:ln>
        </p:spPr>
        <p:txBody>
          <a:bodyPr/>
          <a:lstStyle/>
          <a:p>
            <a:endParaRPr lang="en-US"/>
          </a:p>
        </p:txBody>
      </p:sp>
      <p:sp>
        <p:nvSpPr>
          <p:cNvPr id="95" name="Text 93"/>
          <p:cNvSpPr/>
          <p:nvPr/>
        </p:nvSpPr>
        <p:spPr>
          <a:xfrm>
            <a:off x="2468880" y="2666390"/>
            <a:ext cx="457200" cy="166421"/>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96" name="Shape 94"/>
          <p:cNvSpPr/>
          <p:nvPr/>
        </p:nvSpPr>
        <p:spPr>
          <a:xfrm>
            <a:off x="3675888" y="266639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97" name="Text 95"/>
          <p:cNvSpPr/>
          <p:nvPr/>
        </p:nvSpPr>
        <p:spPr>
          <a:xfrm>
            <a:off x="3675888" y="266639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98" name="Shape 96"/>
          <p:cNvSpPr/>
          <p:nvPr/>
        </p:nvSpPr>
        <p:spPr>
          <a:xfrm>
            <a:off x="4882896" y="266639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99" name="Text 97"/>
          <p:cNvSpPr/>
          <p:nvPr/>
        </p:nvSpPr>
        <p:spPr>
          <a:xfrm>
            <a:off x="4882896" y="266639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00" name="Shape 98"/>
          <p:cNvSpPr/>
          <p:nvPr/>
        </p:nvSpPr>
        <p:spPr>
          <a:xfrm>
            <a:off x="6089904" y="266639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01" name="Text 99"/>
          <p:cNvSpPr/>
          <p:nvPr/>
        </p:nvSpPr>
        <p:spPr>
          <a:xfrm>
            <a:off x="6089904" y="266639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02" name="Shape 100"/>
          <p:cNvSpPr/>
          <p:nvPr/>
        </p:nvSpPr>
        <p:spPr>
          <a:xfrm>
            <a:off x="7296912" y="2666390"/>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03" name="Text 101"/>
          <p:cNvSpPr/>
          <p:nvPr/>
        </p:nvSpPr>
        <p:spPr>
          <a:xfrm>
            <a:off x="7296912" y="266639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04" name="Shape 102"/>
          <p:cNvSpPr/>
          <p:nvPr/>
        </p:nvSpPr>
        <p:spPr>
          <a:xfrm>
            <a:off x="8503920" y="2666390"/>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05" name="Text 103"/>
          <p:cNvSpPr/>
          <p:nvPr/>
        </p:nvSpPr>
        <p:spPr>
          <a:xfrm>
            <a:off x="8503920" y="2666390"/>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06" name="Text 104"/>
          <p:cNvSpPr/>
          <p:nvPr/>
        </p:nvSpPr>
        <p:spPr>
          <a:xfrm>
            <a:off x="91440" y="2851099"/>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AI-to-advisor handoff</a:t>
            </a:r>
            <a:endParaRPr lang="en-US" sz="800" dirty="0"/>
          </a:p>
        </p:txBody>
      </p:sp>
      <p:sp>
        <p:nvSpPr>
          <p:cNvPr id="107" name="Shape 105"/>
          <p:cNvSpPr/>
          <p:nvPr/>
        </p:nvSpPr>
        <p:spPr>
          <a:xfrm>
            <a:off x="2468880" y="2869387"/>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08" name="Text 106"/>
          <p:cNvSpPr/>
          <p:nvPr/>
        </p:nvSpPr>
        <p:spPr>
          <a:xfrm>
            <a:off x="2468880"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09" name="Shape 107"/>
          <p:cNvSpPr/>
          <p:nvPr/>
        </p:nvSpPr>
        <p:spPr>
          <a:xfrm>
            <a:off x="3675888" y="286938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10" name="Text 108"/>
          <p:cNvSpPr/>
          <p:nvPr/>
        </p:nvSpPr>
        <p:spPr>
          <a:xfrm>
            <a:off x="3675888"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11" name="Shape 109"/>
          <p:cNvSpPr/>
          <p:nvPr/>
        </p:nvSpPr>
        <p:spPr>
          <a:xfrm>
            <a:off x="4882896" y="286938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12" name="Text 110"/>
          <p:cNvSpPr/>
          <p:nvPr/>
        </p:nvSpPr>
        <p:spPr>
          <a:xfrm>
            <a:off x="4882896"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13" name="Shape 111"/>
          <p:cNvSpPr/>
          <p:nvPr/>
        </p:nvSpPr>
        <p:spPr>
          <a:xfrm>
            <a:off x="6089904" y="286938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14" name="Text 112"/>
          <p:cNvSpPr/>
          <p:nvPr/>
        </p:nvSpPr>
        <p:spPr>
          <a:xfrm>
            <a:off x="6089904"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15" name="Shape 113"/>
          <p:cNvSpPr/>
          <p:nvPr/>
        </p:nvSpPr>
        <p:spPr>
          <a:xfrm>
            <a:off x="7296912" y="286938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16" name="Text 114"/>
          <p:cNvSpPr/>
          <p:nvPr/>
        </p:nvSpPr>
        <p:spPr>
          <a:xfrm>
            <a:off x="7296912"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17" name="Shape 115"/>
          <p:cNvSpPr/>
          <p:nvPr/>
        </p:nvSpPr>
        <p:spPr>
          <a:xfrm>
            <a:off x="8503920" y="2869387"/>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18" name="Text 116"/>
          <p:cNvSpPr/>
          <p:nvPr/>
        </p:nvSpPr>
        <p:spPr>
          <a:xfrm>
            <a:off x="8503920" y="2869387"/>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19" name="Text 117"/>
          <p:cNvSpPr/>
          <p:nvPr/>
        </p:nvSpPr>
        <p:spPr>
          <a:xfrm>
            <a:off x="91440" y="3054096"/>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Case management</a:t>
            </a:r>
            <a:endParaRPr lang="en-US" sz="800" dirty="0"/>
          </a:p>
        </p:txBody>
      </p:sp>
      <p:sp>
        <p:nvSpPr>
          <p:cNvPr id="120" name="Shape 118"/>
          <p:cNvSpPr/>
          <p:nvPr/>
        </p:nvSpPr>
        <p:spPr>
          <a:xfrm>
            <a:off x="2468880" y="3072384"/>
            <a:ext cx="457200" cy="166421"/>
          </a:xfrm>
          <a:prstGeom prst="rect">
            <a:avLst/>
          </a:prstGeom>
          <a:solidFill>
            <a:srgbClr val="EF4444">
              <a:alpha val="75000"/>
            </a:srgbClr>
          </a:solidFill>
          <a:ln w="12700">
            <a:solidFill>
              <a:srgbClr val="EF4444"/>
            </a:solidFill>
            <a:prstDash val="solid"/>
          </a:ln>
        </p:spPr>
        <p:txBody>
          <a:bodyPr/>
          <a:lstStyle/>
          <a:p>
            <a:endParaRPr lang="en-US"/>
          </a:p>
        </p:txBody>
      </p:sp>
      <p:sp>
        <p:nvSpPr>
          <p:cNvPr id="121" name="Text 119"/>
          <p:cNvSpPr/>
          <p:nvPr/>
        </p:nvSpPr>
        <p:spPr>
          <a:xfrm>
            <a:off x="2468880" y="3072384"/>
            <a:ext cx="457200" cy="166421"/>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122" name="Shape 120"/>
          <p:cNvSpPr/>
          <p:nvPr/>
        </p:nvSpPr>
        <p:spPr>
          <a:xfrm>
            <a:off x="3675888" y="3072384"/>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23" name="Text 121"/>
          <p:cNvSpPr/>
          <p:nvPr/>
        </p:nvSpPr>
        <p:spPr>
          <a:xfrm>
            <a:off x="3675888" y="307238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24" name="Shape 122"/>
          <p:cNvSpPr/>
          <p:nvPr/>
        </p:nvSpPr>
        <p:spPr>
          <a:xfrm>
            <a:off x="4882896" y="307238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25" name="Text 123"/>
          <p:cNvSpPr/>
          <p:nvPr/>
        </p:nvSpPr>
        <p:spPr>
          <a:xfrm>
            <a:off x="4882896" y="307238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26" name="Shape 124"/>
          <p:cNvSpPr/>
          <p:nvPr/>
        </p:nvSpPr>
        <p:spPr>
          <a:xfrm>
            <a:off x="6089904" y="3072384"/>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27" name="Text 125"/>
          <p:cNvSpPr/>
          <p:nvPr/>
        </p:nvSpPr>
        <p:spPr>
          <a:xfrm>
            <a:off x="6089904" y="307238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28" name="Shape 126"/>
          <p:cNvSpPr/>
          <p:nvPr/>
        </p:nvSpPr>
        <p:spPr>
          <a:xfrm>
            <a:off x="7296912" y="307238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29" name="Text 127"/>
          <p:cNvSpPr/>
          <p:nvPr/>
        </p:nvSpPr>
        <p:spPr>
          <a:xfrm>
            <a:off x="7296912" y="307238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30" name="Shape 128"/>
          <p:cNvSpPr/>
          <p:nvPr/>
        </p:nvSpPr>
        <p:spPr>
          <a:xfrm>
            <a:off x="8503920" y="307238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31" name="Text 129"/>
          <p:cNvSpPr/>
          <p:nvPr/>
        </p:nvSpPr>
        <p:spPr>
          <a:xfrm>
            <a:off x="8503920" y="307238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32" name="Text 130"/>
          <p:cNvSpPr/>
          <p:nvPr/>
        </p:nvSpPr>
        <p:spPr>
          <a:xfrm>
            <a:off x="91440" y="3257093"/>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Proactive outreach / nudges</a:t>
            </a:r>
            <a:endParaRPr lang="en-US" sz="800" dirty="0"/>
          </a:p>
        </p:txBody>
      </p:sp>
      <p:sp>
        <p:nvSpPr>
          <p:cNvPr id="133" name="Shape 131"/>
          <p:cNvSpPr/>
          <p:nvPr/>
        </p:nvSpPr>
        <p:spPr>
          <a:xfrm>
            <a:off x="2468880" y="3275381"/>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34" name="Text 132"/>
          <p:cNvSpPr/>
          <p:nvPr/>
        </p:nvSpPr>
        <p:spPr>
          <a:xfrm>
            <a:off x="2468880"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35" name="Shape 133"/>
          <p:cNvSpPr/>
          <p:nvPr/>
        </p:nvSpPr>
        <p:spPr>
          <a:xfrm>
            <a:off x="3675888" y="3275381"/>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36" name="Text 134"/>
          <p:cNvSpPr/>
          <p:nvPr/>
        </p:nvSpPr>
        <p:spPr>
          <a:xfrm>
            <a:off x="3675888"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37" name="Shape 135"/>
          <p:cNvSpPr/>
          <p:nvPr/>
        </p:nvSpPr>
        <p:spPr>
          <a:xfrm>
            <a:off x="4882896" y="3275381"/>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38" name="Text 136"/>
          <p:cNvSpPr/>
          <p:nvPr/>
        </p:nvSpPr>
        <p:spPr>
          <a:xfrm>
            <a:off x="4882896"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39" name="Shape 137"/>
          <p:cNvSpPr/>
          <p:nvPr/>
        </p:nvSpPr>
        <p:spPr>
          <a:xfrm>
            <a:off x="6089904" y="3275381"/>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40" name="Text 138"/>
          <p:cNvSpPr/>
          <p:nvPr/>
        </p:nvSpPr>
        <p:spPr>
          <a:xfrm>
            <a:off x="6089904"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41" name="Shape 139"/>
          <p:cNvSpPr/>
          <p:nvPr/>
        </p:nvSpPr>
        <p:spPr>
          <a:xfrm>
            <a:off x="7296912" y="3275381"/>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42" name="Text 140"/>
          <p:cNvSpPr/>
          <p:nvPr/>
        </p:nvSpPr>
        <p:spPr>
          <a:xfrm>
            <a:off x="7296912"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43" name="Shape 141"/>
          <p:cNvSpPr/>
          <p:nvPr/>
        </p:nvSpPr>
        <p:spPr>
          <a:xfrm>
            <a:off x="8503920" y="3275381"/>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44" name="Text 142"/>
          <p:cNvSpPr/>
          <p:nvPr/>
        </p:nvSpPr>
        <p:spPr>
          <a:xfrm>
            <a:off x="8503920" y="3275381"/>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45" name="Text 143"/>
          <p:cNvSpPr/>
          <p:nvPr/>
        </p:nvSpPr>
        <p:spPr>
          <a:xfrm>
            <a:off x="91440" y="3460090"/>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At-risk identification</a:t>
            </a:r>
            <a:endParaRPr lang="en-US" sz="800" dirty="0"/>
          </a:p>
        </p:txBody>
      </p:sp>
      <p:sp>
        <p:nvSpPr>
          <p:cNvPr id="146" name="Shape 144"/>
          <p:cNvSpPr/>
          <p:nvPr/>
        </p:nvSpPr>
        <p:spPr>
          <a:xfrm>
            <a:off x="2468880" y="3478378"/>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47" name="Text 145"/>
          <p:cNvSpPr/>
          <p:nvPr/>
        </p:nvSpPr>
        <p:spPr>
          <a:xfrm>
            <a:off x="2468880"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48" name="Shape 146"/>
          <p:cNvSpPr/>
          <p:nvPr/>
        </p:nvSpPr>
        <p:spPr>
          <a:xfrm>
            <a:off x="3675888" y="347837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49" name="Text 147"/>
          <p:cNvSpPr/>
          <p:nvPr/>
        </p:nvSpPr>
        <p:spPr>
          <a:xfrm>
            <a:off x="3675888"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50" name="Shape 148"/>
          <p:cNvSpPr/>
          <p:nvPr/>
        </p:nvSpPr>
        <p:spPr>
          <a:xfrm>
            <a:off x="4882896" y="347837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51" name="Text 149"/>
          <p:cNvSpPr/>
          <p:nvPr/>
        </p:nvSpPr>
        <p:spPr>
          <a:xfrm>
            <a:off x="4882896"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52" name="Shape 150"/>
          <p:cNvSpPr/>
          <p:nvPr/>
        </p:nvSpPr>
        <p:spPr>
          <a:xfrm>
            <a:off x="6089904" y="3478378"/>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53" name="Text 151"/>
          <p:cNvSpPr/>
          <p:nvPr/>
        </p:nvSpPr>
        <p:spPr>
          <a:xfrm>
            <a:off x="6089904"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54" name="Shape 152"/>
          <p:cNvSpPr/>
          <p:nvPr/>
        </p:nvSpPr>
        <p:spPr>
          <a:xfrm>
            <a:off x="7296912" y="347837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55" name="Text 153"/>
          <p:cNvSpPr/>
          <p:nvPr/>
        </p:nvSpPr>
        <p:spPr>
          <a:xfrm>
            <a:off x="7296912"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56" name="Shape 154"/>
          <p:cNvSpPr/>
          <p:nvPr/>
        </p:nvSpPr>
        <p:spPr>
          <a:xfrm>
            <a:off x="8503920" y="3478378"/>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57" name="Text 155"/>
          <p:cNvSpPr/>
          <p:nvPr/>
        </p:nvSpPr>
        <p:spPr>
          <a:xfrm>
            <a:off x="8503920" y="347837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58" name="Text 156"/>
          <p:cNvSpPr/>
          <p:nvPr/>
        </p:nvSpPr>
        <p:spPr>
          <a:xfrm>
            <a:off x="91440" y="3663086"/>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Analytics / predictive</a:t>
            </a:r>
            <a:endParaRPr lang="en-US" sz="800" dirty="0"/>
          </a:p>
        </p:txBody>
      </p:sp>
      <p:sp>
        <p:nvSpPr>
          <p:cNvPr id="159" name="Shape 157"/>
          <p:cNvSpPr/>
          <p:nvPr/>
        </p:nvSpPr>
        <p:spPr>
          <a:xfrm>
            <a:off x="2468880" y="368137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60" name="Text 158"/>
          <p:cNvSpPr/>
          <p:nvPr/>
        </p:nvSpPr>
        <p:spPr>
          <a:xfrm>
            <a:off x="2468880"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1" name="Shape 159"/>
          <p:cNvSpPr/>
          <p:nvPr/>
        </p:nvSpPr>
        <p:spPr>
          <a:xfrm>
            <a:off x="3675888" y="3681374"/>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62" name="Text 160"/>
          <p:cNvSpPr/>
          <p:nvPr/>
        </p:nvSpPr>
        <p:spPr>
          <a:xfrm>
            <a:off x="3675888"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3" name="Shape 161"/>
          <p:cNvSpPr/>
          <p:nvPr/>
        </p:nvSpPr>
        <p:spPr>
          <a:xfrm>
            <a:off x="4882896" y="3681374"/>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64" name="Text 162"/>
          <p:cNvSpPr/>
          <p:nvPr/>
        </p:nvSpPr>
        <p:spPr>
          <a:xfrm>
            <a:off x="4882896"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5" name="Shape 163"/>
          <p:cNvSpPr/>
          <p:nvPr/>
        </p:nvSpPr>
        <p:spPr>
          <a:xfrm>
            <a:off x="6089904" y="368137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66" name="Text 164"/>
          <p:cNvSpPr/>
          <p:nvPr/>
        </p:nvSpPr>
        <p:spPr>
          <a:xfrm>
            <a:off x="6089904"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7" name="Shape 165"/>
          <p:cNvSpPr/>
          <p:nvPr/>
        </p:nvSpPr>
        <p:spPr>
          <a:xfrm>
            <a:off x="7296912" y="3681374"/>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68" name="Text 166"/>
          <p:cNvSpPr/>
          <p:nvPr/>
        </p:nvSpPr>
        <p:spPr>
          <a:xfrm>
            <a:off x="7296912"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69" name="Shape 167"/>
          <p:cNvSpPr/>
          <p:nvPr/>
        </p:nvSpPr>
        <p:spPr>
          <a:xfrm>
            <a:off x="8503920" y="3681374"/>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70" name="Text 168"/>
          <p:cNvSpPr/>
          <p:nvPr/>
        </p:nvSpPr>
        <p:spPr>
          <a:xfrm>
            <a:off x="8503920" y="3681374"/>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71" name="Shape 169"/>
          <p:cNvSpPr/>
          <p:nvPr/>
        </p:nvSpPr>
        <p:spPr>
          <a:xfrm>
            <a:off x="91440" y="3866083"/>
            <a:ext cx="2011680" cy="202997"/>
          </a:xfrm>
          <a:prstGeom prst="rect">
            <a:avLst/>
          </a:prstGeom>
          <a:solidFill>
            <a:srgbClr val="1B2A4A"/>
          </a:solidFill>
          <a:ln w="12700">
            <a:solidFill>
              <a:srgbClr val="1B2A4A"/>
            </a:solidFill>
            <a:prstDash val="solid"/>
          </a:ln>
        </p:spPr>
        <p:txBody>
          <a:bodyPr/>
          <a:lstStyle/>
          <a:p>
            <a:endParaRPr lang="en-US"/>
          </a:p>
        </p:txBody>
      </p:sp>
      <p:sp>
        <p:nvSpPr>
          <p:cNvPr id="172" name="Text 170"/>
          <p:cNvSpPr/>
          <p:nvPr/>
        </p:nvSpPr>
        <p:spPr>
          <a:xfrm>
            <a:off x="109728" y="3866083"/>
            <a:ext cx="1993392" cy="202997"/>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TECHNICAL</a:t>
            </a:r>
            <a:endParaRPr lang="en-US" sz="750" dirty="0"/>
          </a:p>
        </p:txBody>
      </p:sp>
      <p:sp>
        <p:nvSpPr>
          <p:cNvPr id="173" name="Text 171"/>
          <p:cNvSpPr/>
          <p:nvPr/>
        </p:nvSpPr>
        <p:spPr>
          <a:xfrm>
            <a:off x="91440" y="4069080"/>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SIS (Banner/PeopleSoft)</a:t>
            </a:r>
            <a:endParaRPr lang="en-US" sz="800" dirty="0"/>
          </a:p>
        </p:txBody>
      </p:sp>
      <p:sp>
        <p:nvSpPr>
          <p:cNvPr id="174" name="Shape 172"/>
          <p:cNvSpPr/>
          <p:nvPr/>
        </p:nvSpPr>
        <p:spPr>
          <a:xfrm>
            <a:off x="2468880" y="4087368"/>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75" name="Text 173"/>
          <p:cNvSpPr/>
          <p:nvPr/>
        </p:nvSpPr>
        <p:spPr>
          <a:xfrm>
            <a:off x="2468880"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76" name="Shape 174"/>
          <p:cNvSpPr/>
          <p:nvPr/>
        </p:nvSpPr>
        <p:spPr>
          <a:xfrm>
            <a:off x="3675888" y="408736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77" name="Text 175"/>
          <p:cNvSpPr/>
          <p:nvPr/>
        </p:nvSpPr>
        <p:spPr>
          <a:xfrm>
            <a:off x="3675888"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78" name="Shape 176"/>
          <p:cNvSpPr/>
          <p:nvPr/>
        </p:nvSpPr>
        <p:spPr>
          <a:xfrm>
            <a:off x="4882896" y="408736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79" name="Text 177"/>
          <p:cNvSpPr/>
          <p:nvPr/>
        </p:nvSpPr>
        <p:spPr>
          <a:xfrm>
            <a:off x="4882896"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0" name="Shape 178"/>
          <p:cNvSpPr/>
          <p:nvPr/>
        </p:nvSpPr>
        <p:spPr>
          <a:xfrm>
            <a:off x="6089904" y="408736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81" name="Text 179"/>
          <p:cNvSpPr/>
          <p:nvPr/>
        </p:nvSpPr>
        <p:spPr>
          <a:xfrm>
            <a:off x="6089904"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2" name="Shape 180"/>
          <p:cNvSpPr/>
          <p:nvPr/>
        </p:nvSpPr>
        <p:spPr>
          <a:xfrm>
            <a:off x="7296912" y="408736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83" name="Text 181"/>
          <p:cNvSpPr/>
          <p:nvPr/>
        </p:nvSpPr>
        <p:spPr>
          <a:xfrm>
            <a:off x="7296912"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4" name="Shape 182"/>
          <p:cNvSpPr/>
          <p:nvPr/>
        </p:nvSpPr>
        <p:spPr>
          <a:xfrm>
            <a:off x="8503920" y="408736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85" name="Text 183"/>
          <p:cNvSpPr/>
          <p:nvPr/>
        </p:nvSpPr>
        <p:spPr>
          <a:xfrm>
            <a:off x="8503920" y="408736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6" name="Text 184"/>
          <p:cNvSpPr/>
          <p:nvPr/>
        </p:nvSpPr>
        <p:spPr>
          <a:xfrm>
            <a:off x="91440" y="4272077"/>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LMS (Brightspace)</a:t>
            </a:r>
            <a:endParaRPr lang="en-US" sz="800" dirty="0"/>
          </a:p>
        </p:txBody>
      </p:sp>
      <p:sp>
        <p:nvSpPr>
          <p:cNvPr id="187" name="Shape 185"/>
          <p:cNvSpPr/>
          <p:nvPr/>
        </p:nvSpPr>
        <p:spPr>
          <a:xfrm>
            <a:off x="2468880" y="429036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88" name="Text 186"/>
          <p:cNvSpPr/>
          <p:nvPr/>
        </p:nvSpPr>
        <p:spPr>
          <a:xfrm>
            <a:off x="2468880"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89" name="Shape 187"/>
          <p:cNvSpPr/>
          <p:nvPr/>
        </p:nvSpPr>
        <p:spPr>
          <a:xfrm>
            <a:off x="3675888" y="4290365"/>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90" name="Text 188"/>
          <p:cNvSpPr/>
          <p:nvPr/>
        </p:nvSpPr>
        <p:spPr>
          <a:xfrm>
            <a:off x="3675888"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91" name="Shape 189"/>
          <p:cNvSpPr/>
          <p:nvPr/>
        </p:nvSpPr>
        <p:spPr>
          <a:xfrm>
            <a:off x="4882896" y="4290365"/>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92" name="Text 190"/>
          <p:cNvSpPr/>
          <p:nvPr/>
        </p:nvSpPr>
        <p:spPr>
          <a:xfrm>
            <a:off x="4882896"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93" name="Shape 191"/>
          <p:cNvSpPr/>
          <p:nvPr/>
        </p:nvSpPr>
        <p:spPr>
          <a:xfrm>
            <a:off x="6089904" y="4290365"/>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94" name="Text 192"/>
          <p:cNvSpPr/>
          <p:nvPr/>
        </p:nvSpPr>
        <p:spPr>
          <a:xfrm>
            <a:off x="6089904"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95" name="Shape 193"/>
          <p:cNvSpPr/>
          <p:nvPr/>
        </p:nvSpPr>
        <p:spPr>
          <a:xfrm>
            <a:off x="7296912" y="4290365"/>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196" name="Text 194"/>
          <p:cNvSpPr/>
          <p:nvPr/>
        </p:nvSpPr>
        <p:spPr>
          <a:xfrm>
            <a:off x="7296912"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97" name="Shape 195"/>
          <p:cNvSpPr/>
          <p:nvPr/>
        </p:nvSpPr>
        <p:spPr>
          <a:xfrm>
            <a:off x="8503920" y="429036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198" name="Text 196"/>
          <p:cNvSpPr/>
          <p:nvPr/>
        </p:nvSpPr>
        <p:spPr>
          <a:xfrm>
            <a:off x="8503920" y="429036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199" name="Text 197"/>
          <p:cNvSpPr/>
          <p:nvPr/>
        </p:nvSpPr>
        <p:spPr>
          <a:xfrm>
            <a:off x="91440" y="4475074"/>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Degree audit (DegreeWorks)</a:t>
            </a:r>
            <a:endParaRPr lang="en-US" sz="800" dirty="0"/>
          </a:p>
        </p:txBody>
      </p:sp>
      <p:sp>
        <p:nvSpPr>
          <p:cNvPr id="200" name="Shape 198"/>
          <p:cNvSpPr/>
          <p:nvPr/>
        </p:nvSpPr>
        <p:spPr>
          <a:xfrm>
            <a:off x="2468880" y="4493362"/>
            <a:ext cx="457200" cy="166421"/>
          </a:xfrm>
          <a:prstGeom prst="rect">
            <a:avLst/>
          </a:prstGeom>
          <a:solidFill>
            <a:srgbClr val="EF4444">
              <a:alpha val="75000"/>
            </a:srgbClr>
          </a:solidFill>
          <a:ln w="12700">
            <a:solidFill>
              <a:srgbClr val="EF4444"/>
            </a:solidFill>
            <a:prstDash val="solid"/>
          </a:ln>
        </p:spPr>
        <p:txBody>
          <a:bodyPr/>
          <a:lstStyle/>
          <a:p>
            <a:endParaRPr lang="en-US"/>
          </a:p>
        </p:txBody>
      </p:sp>
      <p:sp>
        <p:nvSpPr>
          <p:cNvPr id="201" name="Text 199"/>
          <p:cNvSpPr/>
          <p:nvPr/>
        </p:nvSpPr>
        <p:spPr>
          <a:xfrm>
            <a:off x="2468880" y="4493362"/>
            <a:ext cx="457200" cy="166421"/>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202" name="Shape 200"/>
          <p:cNvSpPr/>
          <p:nvPr/>
        </p:nvSpPr>
        <p:spPr>
          <a:xfrm>
            <a:off x="3675888" y="449336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03" name="Text 201"/>
          <p:cNvSpPr/>
          <p:nvPr/>
        </p:nvSpPr>
        <p:spPr>
          <a:xfrm>
            <a:off x="3675888" y="449336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04" name="Shape 202"/>
          <p:cNvSpPr/>
          <p:nvPr/>
        </p:nvSpPr>
        <p:spPr>
          <a:xfrm>
            <a:off x="4882896" y="449336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05" name="Text 203"/>
          <p:cNvSpPr/>
          <p:nvPr/>
        </p:nvSpPr>
        <p:spPr>
          <a:xfrm>
            <a:off x="4882896" y="449336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06" name="Shape 204"/>
          <p:cNvSpPr/>
          <p:nvPr/>
        </p:nvSpPr>
        <p:spPr>
          <a:xfrm>
            <a:off x="6089904" y="4493362"/>
            <a:ext cx="457200" cy="166421"/>
          </a:xfrm>
          <a:prstGeom prst="rect">
            <a:avLst/>
          </a:prstGeom>
          <a:solidFill>
            <a:srgbClr val="EF4444">
              <a:alpha val="75000"/>
            </a:srgbClr>
          </a:solidFill>
          <a:ln w="12700">
            <a:solidFill>
              <a:srgbClr val="EF4444"/>
            </a:solidFill>
            <a:prstDash val="solid"/>
          </a:ln>
        </p:spPr>
        <p:txBody>
          <a:bodyPr/>
          <a:lstStyle/>
          <a:p>
            <a:endParaRPr lang="en-US"/>
          </a:p>
        </p:txBody>
      </p:sp>
      <p:sp>
        <p:nvSpPr>
          <p:cNvPr id="207" name="Text 205"/>
          <p:cNvSpPr/>
          <p:nvPr/>
        </p:nvSpPr>
        <p:spPr>
          <a:xfrm>
            <a:off x="6089904" y="4493362"/>
            <a:ext cx="457200" cy="166421"/>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208" name="Shape 206"/>
          <p:cNvSpPr/>
          <p:nvPr/>
        </p:nvSpPr>
        <p:spPr>
          <a:xfrm>
            <a:off x="7296912" y="449336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09" name="Text 207"/>
          <p:cNvSpPr/>
          <p:nvPr/>
        </p:nvSpPr>
        <p:spPr>
          <a:xfrm>
            <a:off x="7296912" y="449336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10" name="Shape 208"/>
          <p:cNvSpPr/>
          <p:nvPr/>
        </p:nvSpPr>
        <p:spPr>
          <a:xfrm>
            <a:off x="8503920" y="449336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11" name="Text 209"/>
          <p:cNvSpPr/>
          <p:nvPr/>
        </p:nvSpPr>
        <p:spPr>
          <a:xfrm>
            <a:off x="8503920" y="449336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12" name="Text 210"/>
          <p:cNvSpPr/>
          <p:nvPr/>
        </p:nvSpPr>
        <p:spPr>
          <a:xfrm>
            <a:off x="91440" y="4678070"/>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FERPA &amp; data governance</a:t>
            </a:r>
            <a:endParaRPr lang="en-US" sz="800" dirty="0"/>
          </a:p>
        </p:txBody>
      </p:sp>
      <p:sp>
        <p:nvSpPr>
          <p:cNvPr id="213" name="Shape 211"/>
          <p:cNvSpPr/>
          <p:nvPr/>
        </p:nvSpPr>
        <p:spPr>
          <a:xfrm>
            <a:off x="2468880"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14" name="Text 212"/>
          <p:cNvSpPr/>
          <p:nvPr/>
        </p:nvSpPr>
        <p:spPr>
          <a:xfrm>
            <a:off x="2468880"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15" name="Shape 213"/>
          <p:cNvSpPr/>
          <p:nvPr/>
        </p:nvSpPr>
        <p:spPr>
          <a:xfrm>
            <a:off x="3675888"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16" name="Text 214"/>
          <p:cNvSpPr/>
          <p:nvPr/>
        </p:nvSpPr>
        <p:spPr>
          <a:xfrm>
            <a:off x="3675888"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17" name="Shape 215"/>
          <p:cNvSpPr/>
          <p:nvPr/>
        </p:nvSpPr>
        <p:spPr>
          <a:xfrm>
            <a:off x="4882896"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18" name="Text 216"/>
          <p:cNvSpPr/>
          <p:nvPr/>
        </p:nvSpPr>
        <p:spPr>
          <a:xfrm>
            <a:off x="4882896"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19" name="Shape 217"/>
          <p:cNvSpPr/>
          <p:nvPr/>
        </p:nvSpPr>
        <p:spPr>
          <a:xfrm>
            <a:off x="6089904"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20" name="Text 218"/>
          <p:cNvSpPr/>
          <p:nvPr/>
        </p:nvSpPr>
        <p:spPr>
          <a:xfrm>
            <a:off x="6089904"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21" name="Shape 219"/>
          <p:cNvSpPr/>
          <p:nvPr/>
        </p:nvSpPr>
        <p:spPr>
          <a:xfrm>
            <a:off x="7296912"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22" name="Text 220"/>
          <p:cNvSpPr/>
          <p:nvPr/>
        </p:nvSpPr>
        <p:spPr>
          <a:xfrm>
            <a:off x="7296912"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23" name="Shape 221"/>
          <p:cNvSpPr/>
          <p:nvPr/>
        </p:nvSpPr>
        <p:spPr>
          <a:xfrm>
            <a:off x="8503920" y="4696358"/>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24" name="Text 222"/>
          <p:cNvSpPr/>
          <p:nvPr/>
        </p:nvSpPr>
        <p:spPr>
          <a:xfrm>
            <a:off x="8503920" y="4696358"/>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25" name="Text 223"/>
          <p:cNvSpPr/>
          <p:nvPr/>
        </p:nvSpPr>
        <p:spPr>
          <a:xfrm>
            <a:off x="91440" y="4881067"/>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WCAG accessibility</a:t>
            </a:r>
            <a:endParaRPr lang="en-US" sz="800" dirty="0"/>
          </a:p>
        </p:txBody>
      </p:sp>
      <p:sp>
        <p:nvSpPr>
          <p:cNvPr id="226" name="Shape 224"/>
          <p:cNvSpPr/>
          <p:nvPr/>
        </p:nvSpPr>
        <p:spPr>
          <a:xfrm>
            <a:off x="2468880" y="489935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27" name="Text 225"/>
          <p:cNvSpPr/>
          <p:nvPr/>
        </p:nvSpPr>
        <p:spPr>
          <a:xfrm>
            <a:off x="2468880"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28" name="Shape 226"/>
          <p:cNvSpPr/>
          <p:nvPr/>
        </p:nvSpPr>
        <p:spPr>
          <a:xfrm>
            <a:off x="3675888" y="489935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29" name="Text 227"/>
          <p:cNvSpPr/>
          <p:nvPr/>
        </p:nvSpPr>
        <p:spPr>
          <a:xfrm>
            <a:off x="3675888"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30" name="Shape 228"/>
          <p:cNvSpPr/>
          <p:nvPr/>
        </p:nvSpPr>
        <p:spPr>
          <a:xfrm>
            <a:off x="4882896" y="489935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31" name="Text 229"/>
          <p:cNvSpPr/>
          <p:nvPr/>
        </p:nvSpPr>
        <p:spPr>
          <a:xfrm>
            <a:off x="4882896"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32" name="Shape 230"/>
          <p:cNvSpPr/>
          <p:nvPr/>
        </p:nvSpPr>
        <p:spPr>
          <a:xfrm>
            <a:off x="6089904" y="489935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33" name="Text 231"/>
          <p:cNvSpPr/>
          <p:nvPr/>
        </p:nvSpPr>
        <p:spPr>
          <a:xfrm>
            <a:off x="6089904"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34" name="Shape 232"/>
          <p:cNvSpPr/>
          <p:nvPr/>
        </p:nvSpPr>
        <p:spPr>
          <a:xfrm>
            <a:off x="7296912" y="4899355"/>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235" name="Text 233"/>
          <p:cNvSpPr/>
          <p:nvPr/>
        </p:nvSpPr>
        <p:spPr>
          <a:xfrm>
            <a:off x="7296912"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36" name="Shape 234"/>
          <p:cNvSpPr/>
          <p:nvPr/>
        </p:nvSpPr>
        <p:spPr>
          <a:xfrm>
            <a:off x="8503920" y="4899355"/>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37" name="Text 235"/>
          <p:cNvSpPr/>
          <p:nvPr/>
        </p:nvSpPr>
        <p:spPr>
          <a:xfrm>
            <a:off x="8503920" y="4899355"/>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38" name="Text 236"/>
          <p:cNvSpPr/>
          <p:nvPr/>
        </p:nvSpPr>
        <p:spPr>
          <a:xfrm>
            <a:off x="91440" y="5084064"/>
            <a:ext cx="2011680" cy="202997"/>
          </a:xfrm>
          <a:prstGeom prst="rect">
            <a:avLst/>
          </a:prstGeom>
          <a:noFill/>
          <a:ln/>
        </p:spPr>
        <p:txBody>
          <a:bodyPr wrap="square" rtlCol="0" anchor="ctr"/>
          <a:lstStyle/>
          <a:p>
            <a:pPr marL="0" indent="0">
              <a:buNone/>
            </a:pPr>
            <a:r>
              <a:rPr lang="en-US" sz="800" dirty="0">
                <a:solidFill>
                  <a:srgbClr val="1E293B"/>
                </a:solidFill>
                <a:latin typeface="Calibri" pitchFamily="34" charset="0"/>
                <a:ea typeface="Calibri" pitchFamily="34" charset="-122"/>
                <a:cs typeface="Calibri" pitchFamily="34" charset="-120"/>
              </a:rPr>
              <a:t>Scale to 64 campuses</a:t>
            </a:r>
            <a:endParaRPr lang="en-US" sz="800" dirty="0"/>
          </a:p>
        </p:txBody>
      </p:sp>
      <p:sp>
        <p:nvSpPr>
          <p:cNvPr id="239" name="Shape 237"/>
          <p:cNvSpPr/>
          <p:nvPr/>
        </p:nvSpPr>
        <p:spPr>
          <a:xfrm>
            <a:off x="2468880" y="5102352"/>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240" name="Text 238"/>
          <p:cNvSpPr/>
          <p:nvPr/>
        </p:nvSpPr>
        <p:spPr>
          <a:xfrm>
            <a:off x="2468880"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1" name="Shape 239"/>
          <p:cNvSpPr/>
          <p:nvPr/>
        </p:nvSpPr>
        <p:spPr>
          <a:xfrm>
            <a:off x="3675888" y="510235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42" name="Text 240"/>
          <p:cNvSpPr/>
          <p:nvPr/>
        </p:nvSpPr>
        <p:spPr>
          <a:xfrm>
            <a:off x="3675888"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3" name="Shape 241"/>
          <p:cNvSpPr/>
          <p:nvPr/>
        </p:nvSpPr>
        <p:spPr>
          <a:xfrm>
            <a:off x="4882896" y="510235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44" name="Text 242"/>
          <p:cNvSpPr/>
          <p:nvPr/>
        </p:nvSpPr>
        <p:spPr>
          <a:xfrm>
            <a:off x="4882896"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5" name="Shape 243"/>
          <p:cNvSpPr/>
          <p:nvPr/>
        </p:nvSpPr>
        <p:spPr>
          <a:xfrm>
            <a:off x="6089904" y="510235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46" name="Text 244"/>
          <p:cNvSpPr/>
          <p:nvPr/>
        </p:nvSpPr>
        <p:spPr>
          <a:xfrm>
            <a:off x="6089904"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7" name="Shape 245"/>
          <p:cNvSpPr/>
          <p:nvPr/>
        </p:nvSpPr>
        <p:spPr>
          <a:xfrm>
            <a:off x="7296912" y="5102352"/>
            <a:ext cx="457200" cy="166421"/>
          </a:xfrm>
          <a:prstGeom prst="rect">
            <a:avLst/>
          </a:prstGeom>
          <a:solidFill>
            <a:srgbClr val="F59E0B">
              <a:alpha val="75000"/>
            </a:srgbClr>
          </a:solidFill>
          <a:ln w="12700">
            <a:solidFill>
              <a:srgbClr val="F59E0B"/>
            </a:solidFill>
            <a:prstDash val="solid"/>
          </a:ln>
        </p:spPr>
        <p:txBody>
          <a:bodyPr/>
          <a:lstStyle/>
          <a:p>
            <a:endParaRPr lang="en-US"/>
          </a:p>
        </p:txBody>
      </p:sp>
      <p:sp>
        <p:nvSpPr>
          <p:cNvPr id="248" name="Text 246"/>
          <p:cNvSpPr/>
          <p:nvPr/>
        </p:nvSpPr>
        <p:spPr>
          <a:xfrm>
            <a:off x="7296912"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49" name="Shape 247"/>
          <p:cNvSpPr/>
          <p:nvPr/>
        </p:nvSpPr>
        <p:spPr>
          <a:xfrm>
            <a:off x="8503920" y="5102352"/>
            <a:ext cx="457200" cy="166421"/>
          </a:xfrm>
          <a:prstGeom prst="rect">
            <a:avLst/>
          </a:prstGeom>
          <a:solidFill>
            <a:srgbClr val="0D9488">
              <a:alpha val="75000"/>
            </a:srgbClr>
          </a:solidFill>
          <a:ln w="12700">
            <a:solidFill>
              <a:srgbClr val="0D9488"/>
            </a:solidFill>
            <a:prstDash val="solid"/>
          </a:ln>
        </p:spPr>
        <p:txBody>
          <a:bodyPr/>
          <a:lstStyle/>
          <a:p>
            <a:endParaRPr lang="en-US"/>
          </a:p>
        </p:txBody>
      </p:sp>
      <p:sp>
        <p:nvSpPr>
          <p:cNvPr id="250" name="Text 248"/>
          <p:cNvSpPr/>
          <p:nvPr/>
        </p:nvSpPr>
        <p:spPr>
          <a:xfrm>
            <a:off x="8503920" y="5102352"/>
            <a:ext cx="457200" cy="166421"/>
          </a:xfrm>
          <a:prstGeom prst="rect">
            <a:avLst/>
          </a:prstGeom>
          <a:noFill/>
          <a:ln/>
        </p:spPr>
        <p:txBody>
          <a:bodyPr wrap="square"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t>
            </a:r>
            <a:endParaRPr lang="en-US" sz="900" dirty="0"/>
          </a:p>
        </p:txBody>
      </p:sp>
      <p:sp>
        <p:nvSpPr>
          <p:cNvPr id="251" name="Text 249"/>
          <p:cNvSpPr/>
          <p:nvPr/>
        </p:nvSpPr>
        <p:spPr>
          <a:xfrm>
            <a:off x="91440" y="4892040"/>
            <a:ext cx="8961120" cy="228600"/>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Strong   ◐ Partial   ○ Gap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Compliance &amp; Ethical Dimensions  ·  What Vendor Materials Actually Address</a:t>
            </a:r>
            <a:endParaRPr lang="en-US" sz="1500" dirty="0"/>
          </a:p>
        </p:txBody>
      </p:sp>
      <p:sp>
        <p:nvSpPr>
          <p:cNvPr id="4" name="Shape 2"/>
          <p:cNvSpPr/>
          <p:nvPr/>
        </p:nvSpPr>
        <p:spPr>
          <a:xfrm>
            <a:off x="228600" y="640080"/>
            <a:ext cx="137160" cy="137160"/>
          </a:xfrm>
          <a:prstGeom prst="rect">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402336" y="621792"/>
            <a:ext cx="118872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SOI-required</a:t>
            </a:r>
            <a:endParaRPr lang="en-US" sz="800" dirty="0"/>
          </a:p>
        </p:txBody>
      </p:sp>
      <p:sp>
        <p:nvSpPr>
          <p:cNvPr id="6" name="Shape 4"/>
          <p:cNvSpPr/>
          <p:nvPr/>
        </p:nvSpPr>
        <p:spPr>
          <a:xfrm>
            <a:off x="1737360" y="640080"/>
            <a:ext cx="137160" cy="137160"/>
          </a:xfrm>
          <a:prstGeom prst="rect">
            <a:avLst/>
          </a:prstGeom>
          <a:solidFill>
            <a:srgbClr val="7C3AED"/>
          </a:solidFill>
          <a:ln w="12700">
            <a:solidFill>
              <a:srgbClr val="7C3AED"/>
            </a:solidFill>
            <a:prstDash val="solid"/>
          </a:ln>
        </p:spPr>
        <p:txBody>
          <a:bodyPr/>
          <a:lstStyle/>
          <a:p>
            <a:endParaRPr lang="en-US"/>
          </a:p>
        </p:txBody>
      </p:sp>
      <p:sp>
        <p:nvSpPr>
          <p:cNvPr id="7" name="Text 5"/>
          <p:cNvSpPr/>
          <p:nvPr/>
        </p:nvSpPr>
        <p:spPr>
          <a:xfrm>
            <a:off x="1911096" y="621792"/>
            <a:ext cx="164592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AIX-raised (not in SOI)</a:t>
            </a:r>
            <a:endParaRPr lang="en-US" sz="800" dirty="0"/>
          </a:p>
        </p:txBody>
      </p:sp>
      <p:sp>
        <p:nvSpPr>
          <p:cNvPr id="8" name="Shape 6"/>
          <p:cNvSpPr/>
          <p:nvPr/>
        </p:nvSpPr>
        <p:spPr>
          <a:xfrm>
            <a:off x="1417320" y="822960"/>
            <a:ext cx="1261872" cy="594360"/>
          </a:xfrm>
          <a:prstGeom prst="rect">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1417320"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FERPA</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&amp; Data Privacy</a:t>
            </a:r>
            <a:endParaRPr lang="en-US" sz="800" dirty="0"/>
          </a:p>
        </p:txBody>
      </p:sp>
      <p:sp>
        <p:nvSpPr>
          <p:cNvPr id="10" name="Text 8"/>
          <p:cNvSpPr/>
          <p:nvPr/>
        </p:nvSpPr>
        <p:spPr>
          <a:xfrm>
            <a:off x="1417320"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SOI §8</a:t>
            </a:r>
            <a:endParaRPr lang="en-US" sz="650" dirty="0"/>
          </a:p>
        </p:txBody>
      </p:sp>
      <p:sp>
        <p:nvSpPr>
          <p:cNvPr id="11" name="Shape 9"/>
          <p:cNvSpPr/>
          <p:nvPr/>
        </p:nvSpPr>
        <p:spPr>
          <a:xfrm>
            <a:off x="2770632" y="822960"/>
            <a:ext cx="1261872" cy="59436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2770632"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NY Tech Law</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103-E</a:t>
            </a:r>
            <a:endParaRPr lang="en-US" sz="800" dirty="0"/>
          </a:p>
        </p:txBody>
      </p:sp>
      <p:sp>
        <p:nvSpPr>
          <p:cNvPr id="13" name="Text 11"/>
          <p:cNvSpPr/>
          <p:nvPr/>
        </p:nvSpPr>
        <p:spPr>
          <a:xfrm>
            <a:off x="2770632"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SOI §8</a:t>
            </a:r>
            <a:endParaRPr lang="en-US" sz="650" dirty="0"/>
          </a:p>
        </p:txBody>
      </p:sp>
      <p:sp>
        <p:nvSpPr>
          <p:cNvPr id="14" name="Shape 12"/>
          <p:cNvSpPr/>
          <p:nvPr/>
        </p:nvSpPr>
        <p:spPr>
          <a:xfrm>
            <a:off x="4123944" y="822960"/>
            <a:ext cx="1261872" cy="594360"/>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4123944"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WCAG /</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Section 508</a:t>
            </a:r>
            <a:endParaRPr lang="en-US" sz="800" dirty="0"/>
          </a:p>
        </p:txBody>
      </p:sp>
      <p:sp>
        <p:nvSpPr>
          <p:cNvPr id="16" name="Text 14"/>
          <p:cNvSpPr/>
          <p:nvPr/>
        </p:nvSpPr>
        <p:spPr>
          <a:xfrm>
            <a:off x="4123944"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SOI §8</a:t>
            </a:r>
            <a:endParaRPr lang="en-US" sz="650" dirty="0"/>
          </a:p>
        </p:txBody>
      </p:sp>
      <p:sp>
        <p:nvSpPr>
          <p:cNvPr id="17" name="Shape 15"/>
          <p:cNvSpPr/>
          <p:nvPr/>
        </p:nvSpPr>
        <p:spPr>
          <a:xfrm>
            <a:off x="5477256" y="822960"/>
            <a:ext cx="1261872" cy="594360"/>
          </a:xfrm>
          <a:prstGeom prst="rect">
            <a:avLst/>
          </a:prstGeom>
          <a:solidFill>
            <a:srgbClr val="0D9488"/>
          </a:solidFill>
          <a:ln w="12700">
            <a:solidFill>
              <a:srgbClr val="0D9488"/>
            </a:solidFill>
            <a:prstDash val="solid"/>
          </a:ln>
        </p:spPr>
        <p:txBody>
          <a:bodyPr/>
          <a:lstStyle/>
          <a:p>
            <a:endParaRPr lang="en-US"/>
          </a:p>
        </p:txBody>
      </p:sp>
      <p:sp>
        <p:nvSpPr>
          <p:cNvPr id="18" name="Text 16"/>
          <p:cNvSpPr/>
          <p:nvPr/>
        </p:nvSpPr>
        <p:spPr>
          <a:xfrm>
            <a:off x="5477256"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Human</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Oversight</a:t>
            </a:r>
            <a:endParaRPr lang="en-US" sz="800" dirty="0"/>
          </a:p>
        </p:txBody>
      </p:sp>
      <p:sp>
        <p:nvSpPr>
          <p:cNvPr id="19" name="Text 17"/>
          <p:cNvSpPr/>
          <p:nvPr/>
        </p:nvSpPr>
        <p:spPr>
          <a:xfrm>
            <a:off x="5477256"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SOI §8</a:t>
            </a:r>
            <a:endParaRPr lang="en-US" sz="650" dirty="0"/>
          </a:p>
        </p:txBody>
      </p:sp>
      <p:sp>
        <p:nvSpPr>
          <p:cNvPr id="20" name="Shape 18"/>
          <p:cNvSpPr/>
          <p:nvPr/>
        </p:nvSpPr>
        <p:spPr>
          <a:xfrm>
            <a:off x="6830568" y="822960"/>
            <a:ext cx="1261872" cy="594360"/>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6830568"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Equity</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Outcomes</a:t>
            </a:r>
            <a:endParaRPr lang="en-US" sz="800" dirty="0"/>
          </a:p>
        </p:txBody>
      </p:sp>
      <p:sp>
        <p:nvSpPr>
          <p:cNvPr id="22" name="Text 20"/>
          <p:cNvSpPr/>
          <p:nvPr/>
        </p:nvSpPr>
        <p:spPr>
          <a:xfrm>
            <a:off x="6830568"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AIX-raised</a:t>
            </a:r>
            <a:endParaRPr lang="en-US" sz="650" dirty="0"/>
          </a:p>
        </p:txBody>
      </p:sp>
      <p:sp>
        <p:nvSpPr>
          <p:cNvPr id="23" name="Shape 21"/>
          <p:cNvSpPr/>
          <p:nvPr/>
        </p:nvSpPr>
        <p:spPr>
          <a:xfrm>
            <a:off x="8183880" y="822960"/>
            <a:ext cx="1261872" cy="594360"/>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8183880" y="822960"/>
            <a:ext cx="1261872" cy="45720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Student Consent</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&amp; Transparency</a:t>
            </a:r>
            <a:endParaRPr lang="en-US" sz="800" dirty="0"/>
          </a:p>
        </p:txBody>
      </p:sp>
      <p:sp>
        <p:nvSpPr>
          <p:cNvPr id="25" name="Text 23"/>
          <p:cNvSpPr/>
          <p:nvPr/>
        </p:nvSpPr>
        <p:spPr>
          <a:xfrm>
            <a:off x="8183880" y="1280160"/>
            <a:ext cx="1261872" cy="164592"/>
          </a:xfrm>
          <a:prstGeom prst="rect">
            <a:avLst/>
          </a:prstGeom>
          <a:noFill/>
          <a:ln/>
        </p:spPr>
        <p:txBody>
          <a:bodyPr wrap="square"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AIX-raised</a:t>
            </a:r>
            <a:endParaRPr lang="en-US" sz="650" dirty="0"/>
          </a:p>
        </p:txBody>
      </p:sp>
      <p:sp>
        <p:nvSpPr>
          <p:cNvPr id="26" name="Shape 24"/>
          <p:cNvSpPr/>
          <p:nvPr/>
        </p:nvSpPr>
        <p:spPr>
          <a:xfrm>
            <a:off x="228600" y="1463040"/>
            <a:ext cx="8686800" cy="475488"/>
          </a:xfrm>
          <a:prstGeom prst="rect">
            <a:avLst/>
          </a:prstGeom>
          <a:solidFill>
            <a:srgbClr val="EFF6FF"/>
          </a:solidFill>
          <a:ln w="6350">
            <a:solidFill>
              <a:srgbClr val="CBD5E1"/>
            </a:solidFill>
            <a:prstDash val="solid"/>
          </a:ln>
        </p:spPr>
        <p:txBody>
          <a:bodyPr/>
          <a:lstStyle/>
          <a:p>
            <a:endParaRPr lang="en-US"/>
          </a:p>
        </p:txBody>
      </p:sp>
      <p:sp>
        <p:nvSpPr>
          <p:cNvPr id="27" name="Text 25"/>
          <p:cNvSpPr/>
          <p:nvPr/>
        </p:nvSpPr>
        <p:spPr>
          <a:xfrm>
            <a:off x="320040" y="1463040"/>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D2L</a:t>
            </a:r>
            <a:endParaRPr lang="en-US" sz="1000" dirty="0"/>
          </a:p>
        </p:txBody>
      </p:sp>
      <p:sp>
        <p:nvSpPr>
          <p:cNvPr id="28" name="Shape 26"/>
          <p:cNvSpPr/>
          <p:nvPr/>
        </p:nvSpPr>
        <p:spPr>
          <a:xfrm>
            <a:off x="1554480" y="155448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29" name="Text 27"/>
          <p:cNvSpPr/>
          <p:nvPr/>
        </p:nvSpPr>
        <p:spPr>
          <a:xfrm>
            <a:off x="1554480" y="155448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30" name="Shape 28"/>
          <p:cNvSpPr/>
          <p:nvPr/>
        </p:nvSpPr>
        <p:spPr>
          <a:xfrm>
            <a:off x="2907792" y="155448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31" name="Text 29"/>
          <p:cNvSpPr/>
          <p:nvPr/>
        </p:nvSpPr>
        <p:spPr>
          <a:xfrm>
            <a:off x="2907792" y="155448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32" name="Shape 30"/>
          <p:cNvSpPr/>
          <p:nvPr/>
        </p:nvSpPr>
        <p:spPr>
          <a:xfrm>
            <a:off x="4261104" y="155448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33" name="Text 31"/>
          <p:cNvSpPr/>
          <p:nvPr/>
        </p:nvSpPr>
        <p:spPr>
          <a:xfrm>
            <a:off x="4261104" y="155448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34" name="Shape 32"/>
          <p:cNvSpPr/>
          <p:nvPr/>
        </p:nvSpPr>
        <p:spPr>
          <a:xfrm>
            <a:off x="5614416" y="155448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35" name="Text 33"/>
          <p:cNvSpPr/>
          <p:nvPr/>
        </p:nvSpPr>
        <p:spPr>
          <a:xfrm>
            <a:off x="5614416" y="155448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36" name="Shape 34"/>
          <p:cNvSpPr/>
          <p:nvPr/>
        </p:nvSpPr>
        <p:spPr>
          <a:xfrm>
            <a:off x="6967728" y="1554480"/>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37" name="Text 35"/>
          <p:cNvSpPr/>
          <p:nvPr/>
        </p:nvSpPr>
        <p:spPr>
          <a:xfrm>
            <a:off x="6967728" y="1554480"/>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
        <p:nvSpPr>
          <p:cNvPr id="38" name="Shape 36"/>
          <p:cNvSpPr/>
          <p:nvPr/>
        </p:nvSpPr>
        <p:spPr>
          <a:xfrm>
            <a:off x="8321040" y="1554480"/>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39" name="Text 37"/>
          <p:cNvSpPr/>
          <p:nvPr/>
        </p:nvSpPr>
        <p:spPr>
          <a:xfrm>
            <a:off x="8321040" y="1554480"/>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
        <p:nvSpPr>
          <p:cNvPr id="40" name="Shape 38"/>
          <p:cNvSpPr/>
          <p:nvPr/>
        </p:nvSpPr>
        <p:spPr>
          <a:xfrm>
            <a:off x="228600" y="1993392"/>
            <a:ext cx="8686800" cy="475488"/>
          </a:xfrm>
          <a:prstGeom prst="rect">
            <a:avLst/>
          </a:prstGeom>
          <a:solidFill>
            <a:srgbClr val="FFFFFF"/>
          </a:solidFill>
          <a:ln w="6350">
            <a:solidFill>
              <a:srgbClr val="CBD5E1"/>
            </a:solidFill>
            <a:prstDash val="solid"/>
          </a:ln>
        </p:spPr>
        <p:txBody>
          <a:bodyPr/>
          <a:lstStyle/>
          <a:p>
            <a:endParaRPr lang="en-US"/>
          </a:p>
        </p:txBody>
      </p:sp>
      <p:sp>
        <p:nvSpPr>
          <p:cNvPr id="41" name="Text 39"/>
          <p:cNvSpPr/>
          <p:nvPr/>
        </p:nvSpPr>
        <p:spPr>
          <a:xfrm>
            <a:off x="320040" y="1993392"/>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EAB</a:t>
            </a:r>
            <a:endParaRPr lang="en-US" sz="1000" dirty="0"/>
          </a:p>
        </p:txBody>
      </p:sp>
      <p:sp>
        <p:nvSpPr>
          <p:cNvPr id="42" name="Shape 40"/>
          <p:cNvSpPr/>
          <p:nvPr/>
        </p:nvSpPr>
        <p:spPr>
          <a:xfrm>
            <a:off x="1554480" y="2084832"/>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43" name="Text 41"/>
          <p:cNvSpPr/>
          <p:nvPr/>
        </p:nvSpPr>
        <p:spPr>
          <a:xfrm>
            <a:off x="1554480"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44" name="Shape 42"/>
          <p:cNvSpPr/>
          <p:nvPr/>
        </p:nvSpPr>
        <p:spPr>
          <a:xfrm>
            <a:off x="2907792" y="2084832"/>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45" name="Text 43"/>
          <p:cNvSpPr/>
          <p:nvPr/>
        </p:nvSpPr>
        <p:spPr>
          <a:xfrm>
            <a:off x="2907792"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46" name="Shape 44"/>
          <p:cNvSpPr/>
          <p:nvPr/>
        </p:nvSpPr>
        <p:spPr>
          <a:xfrm>
            <a:off x="4261104" y="2084832"/>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47" name="Text 45"/>
          <p:cNvSpPr/>
          <p:nvPr/>
        </p:nvSpPr>
        <p:spPr>
          <a:xfrm>
            <a:off x="4261104"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48" name="Shape 46"/>
          <p:cNvSpPr/>
          <p:nvPr/>
        </p:nvSpPr>
        <p:spPr>
          <a:xfrm>
            <a:off x="5614416" y="2084832"/>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49" name="Text 47"/>
          <p:cNvSpPr/>
          <p:nvPr/>
        </p:nvSpPr>
        <p:spPr>
          <a:xfrm>
            <a:off x="5614416"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50" name="Shape 48"/>
          <p:cNvSpPr/>
          <p:nvPr/>
        </p:nvSpPr>
        <p:spPr>
          <a:xfrm>
            <a:off x="6967728" y="2084832"/>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51" name="Text 49"/>
          <p:cNvSpPr/>
          <p:nvPr/>
        </p:nvSpPr>
        <p:spPr>
          <a:xfrm>
            <a:off x="6967728"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52" name="Shape 50"/>
          <p:cNvSpPr/>
          <p:nvPr/>
        </p:nvSpPr>
        <p:spPr>
          <a:xfrm>
            <a:off x="8321040" y="2084832"/>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53" name="Text 51"/>
          <p:cNvSpPr/>
          <p:nvPr/>
        </p:nvSpPr>
        <p:spPr>
          <a:xfrm>
            <a:off x="8321040" y="2084832"/>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54" name="Shape 52"/>
          <p:cNvSpPr/>
          <p:nvPr/>
        </p:nvSpPr>
        <p:spPr>
          <a:xfrm>
            <a:off x="228600" y="2523744"/>
            <a:ext cx="8686800" cy="475488"/>
          </a:xfrm>
          <a:prstGeom prst="rect">
            <a:avLst/>
          </a:prstGeom>
          <a:solidFill>
            <a:srgbClr val="EFF6FF"/>
          </a:solidFill>
          <a:ln w="6350">
            <a:solidFill>
              <a:srgbClr val="CBD5E1"/>
            </a:solidFill>
            <a:prstDash val="solid"/>
          </a:ln>
        </p:spPr>
        <p:txBody>
          <a:bodyPr/>
          <a:lstStyle/>
          <a:p>
            <a:endParaRPr lang="en-US"/>
          </a:p>
        </p:txBody>
      </p:sp>
      <p:sp>
        <p:nvSpPr>
          <p:cNvPr id="55" name="Text 53"/>
          <p:cNvSpPr/>
          <p:nvPr/>
        </p:nvSpPr>
        <p:spPr>
          <a:xfrm>
            <a:off x="320040" y="2523744"/>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Ellucian</a:t>
            </a:r>
            <a:endParaRPr lang="en-US" sz="1000" dirty="0"/>
          </a:p>
        </p:txBody>
      </p:sp>
      <p:sp>
        <p:nvSpPr>
          <p:cNvPr id="56" name="Shape 54"/>
          <p:cNvSpPr/>
          <p:nvPr/>
        </p:nvSpPr>
        <p:spPr>
          <a:xfrm>
            <a:off x="1554480" y="2615184"/>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57" name="Text 55"/>
          <p:cNvSpPr/>
          <p:nvPr/>
        </p:nvSpPr>
        <p:spPr>
          <a:xfrm>
            <a:off x="1554480"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58" name="Shape 56"/>
          <p:cNvSpPr/>
          <p:nvPr/>
        </p:nvSpPr>
        <p:spPr>
          <a:xfrm>
            <a:off x="2907792" y="2615184"/>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59" name="Text 57"/>
          <p:cNvSpPr/>
          <p:nvPr/>
        </p:nvSpPr>
        <p:spPr>
          <a:xfrm>
            <a:off x="2907792"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60" name="Shape 58"/>
          <p:cNvSpPr/>
          <p:nvPr/>
        </p:nvSpPr>
        <p:spPr>
          <a:xfrm>
            <a:off x="4261104" y="2615184"/>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61" name="Text 59"/>
          <p:cNvSpPr/>
          <p:nvPr/>
        </p:nvSpPr>
        <p:spPr>
          <a:xfrm>
            <a:off x="4261104"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62" name="Shape 60"/>
          <p:cNvSpPr/>
          <p:nvPr/>
        </p:nvSpPr>
        <p:spPr>
          <a:xfrm>
            <a:off x="5614416" y="2615184"/>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63" name="Text 61"/>
          <p:cNvSpPr/>
          <p:nvPr/>
        </p:nvSpPr>
        <p:spPr>
          <a:xfrm>
            <a:off x="5614416"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64" name="Shape 62"/>
          <p:cNvSpPr/>
          <p:nvPr/>
        </p:nvSpPr>
        <p:spPr>
          <a:xfrm>
            <a:off x="6967728" y="2615184"/>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65" name="Text 63"/>
          <p:cNvSpPr/>
          <p:nvPr/>
        </p:nvSpPr>
        <p:spPr>
          <a:xfrm>
            <a:off x="6967728"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66" name="Shape 64"/>
          <p:cNvSpPr/>
          <p:nvPr/>
        </p:nvSpPr>
        <p:spPr>
          <a:xfrm>
            <a:off x="8321040" y="2615184"/>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67" name="Text 65"/>
          <p:cNvSpPr/>
          <p:nvPr/>
        </p:nvSpPr>
        <p:spPr>
          <a:xfrm>
            <a:off x="8321040" y="2615184"/>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68" name="Shape 66"/>
          <p:cNvSpPr/>
          <p:nvPr/>
        </p:nvSpPr>
        <p:spPr>
          <a:xfrm>
            <a:off x="228600" y="3054096"/>
            <a:ext cx="8686800" cy="475488"/>
          </a:xfrm>
          <a:prstGeom prst="rect">
            <a:avLst/>
          </a:prstGeom>
          <a:solidFill>
            <a:srgbClr val="FFFFFF"/>
          </a:solidFill>
          <a:ln w="6350">
            <a:solidFill>
              <a:srgbClr val="CBD5E1"/>
            </a:solidFill>
            <a:prstDash val="solid"/>
          </a:ln>
        </p:spPr>
        <p:txBody>
          <a:bodyPr/>
          <a:lstStyle/>
          <a:p>
            <a:endParaRPr lang="en-US"/>
          </a:p>
        </p:txBody>
      </p:sp>
      <p:sp>
        <p:nvSpPr>
          <p:cNvPr id="69" name="Text 67"/>
          <p:cNvSpPr/>
          <p:nvPr/>
        </p:nvSpPr>
        <p:spPr>
          <a:xfrm>
            <a:off x="320040" y="3054096"/>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Gravyty</a:t>
            </a:r>
            <a:endParaRPr lang="en-US" sz="1000" dirty="0"/>
          </a:p>
        </p:txBody>
      </p:sp>
      <p:sp>
        <p:nvSpPr>
          <p:cNvPr id="70" name="Shape 68"/>
          <p:cNvSpPr/>
          <p:nvPr/>
        </p:nvSpPr>
        <p:spPr>
          <a:xfrm>
            <a:off x="1554480" y="3145536"/>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71" name="Text 69"/>
          <p:cNvSpPr/>
          <p:nvPr/>
        </p:nvSpPr>
        <p:spPr>
          <a:xfrm>
            <a:off x="1554480" y="3145536"/>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72" name="Shape 70"/>
          <p:cNvSpPr/>
          <p:nvPr/>
        </p:nvSpPr>
        <p:spPr>
          <a:xfrm>
            <a:off x="2907792" y="3145536"/>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73" name="Text 71"/>
          <p:cNvSpPr/>
          <p:nvPr/>
        </p:nvSpPr>
        <p:spPr>
          <a:xfrm>
            <a:off x="2907792" y="3145536"/>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74" name="Shape 72"/>
          <p:cNvSpPr/>
          <p:nvPr/>
        </p:nvSpPr>
        <p:spPr>
          <a:xfrm>
            <a:off x="4261104" y="3145536"/>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75" name="Text 73"/>
          <p:cNvSpPr/>
          <p:nvPr/>
        </p:nvSpPr>
        <p:spPr>
          <a:xfrm>
            <a:off x="4261104" y="3145536"/>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76" name="Shape 74"/>
          <p:cNvSpPr/>
          <p:nvPr/>
        </p:nvSpPr>
        <p:spPr>
          <a:xfrm>
            <a:off x="5614416" y="3145536"/>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77" name="Text 75"/>
          <p:cNvSpPr/>
          <p:nvPr/>
        </p:nvSpPr>
        <p:spPr>
          <a:xfrm>
            <a:off x="5614416" y="3145536"/>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78" name="Shape 76"/>
          <p:cNvSpPr/>
          <p:nvPr/>
        </p:nvSpPr>
        <p:spPr>
          <a:xfrm>
            <a:off x="6967728" y="3145536"/>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79" name="Text 77"/>
          <p:cNvSpPr/>
          <p:nvPr/>
        </p:nvSpPr>
        <p:spPr>
          <a:xfrm>
            <a:off x="6967728" y="3145536"/>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
        <p:nvSpPr>
          <p:cNvPr id="80" name="Shape 78"/>
          <p:cNvSpPr/>
          <p:nvPr/>
        </p:nvSpPr>
        <p:spPr>
          <a:xfrm>
            <a:off x="8321040" y="3145536"/>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81" name="Text 79"/>
          <p:cNvSpPr/>
          <p:nvPr/>
        </p:nvSpPr>
        <p:spPr>
          <a:xfrm>
            <a:off x="8321040" y="3145536"/>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82" name="Shape 80"/>
          <p:cNvSpPr/>
          <p:nvPr/>
        </p:nvSpPr>
        <p:spPr>
          <a:xfrm>
            <a:off x="228600" y="3584448"/>
            <a:ext cx="8686800" cy="475488"/>
          </a:xfrm>
          <a:prstGeom prst="rect">
            <a:avLst/>
          </a:prstGeom>
          <a:solidFill>
            <a:srgbClr val="EFF6FF"/>
          </a:solidFill>
          <a:ln w="6350">
            <a:solidFill>
              <a:srgbClr val="CBD5E1"/>
            </a:solidFill>
            <a:prstDash val="solid"/>
          </a:ln>
        </p:spPr>
        <p:txBody>
          <a:bodyPr/>
          <a:lstStyle/>
          <a:p>
            <a:endParaRPr lang="en-US"/>
          </a:p>
        </p:txBody>
      </p:sp>
      <p:sp>
        <p:nvSpPr>
          <p:cNvPr id="83" name="Text 81"/>
          <p:cNvSpPr/>
          <p:nvPr/>
        </p:nvSpPr>
        <p:spPr>
          <a:xfrm>
            <a:off x="320040" y="3584448"/>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Nerdery</a:t>
            </a:r>
            <a:endParaRPr lang="en-US" sz="1000" dirty="0"/>
          </a:p>
        </p:txBody>
      </p:sp>
      <p:sp>
        <p:nvSpPr>
          <p:cNvPr id="84" name="Shape 82"/>
          <p:cNvSpPr/>
          <p:nvPr/>
        </p:nvSpPr>
        <p:spPr>
          <a:xfrm>
            <a:off x="1554480" y="3675888"/>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85" name="Text 83"/>
          <p:cNvSpPr/>
          <p:nvPr/>
        </p:nvSpPr>
        <p:spPr>
          <a:xfrm>
            <a:off x="1554480" y="3675888"/>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86" name="Shape 84"/>
          <p:cNvSpPr/>
          <p:nvPr/>
        </p:nvSpPr>
        <p:spPr>
          <a:xfrm>
            <a:off x="2907792" y="3675888"/>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87" name="Text 85"/>
          <p:cNvSpPr/>
          <p:nvPr/>
        </p:nvSpPr>
        <p:spPr>
          <a:xfrm>
            <a:off x="2907792" y="3675888"/>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88" name="Shape 86"/>
          <p:cNvSpPr/>
          <p:nvPr/>
        </p:nvSpPr>
        <p:spPr>
          <a:xfrm>
            <a:off x="4261104" y="3675888"/>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89" name="Text 87"/>
          <p:cNvSpPr/>
          <p:nvPr/>
        </p:nvSpPr>
        <p:spPr>
          <a:xfrm>
            <a:off x="4261104" y="3675888"/>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90" name="Shape 88"/>
          <p:cNvSpPr/>
          <p:nvPr/>
        </p:nvSpPr>
        <p:spPr>
          <a:xfrm>
            <a:off x="5614416" y="3675888"/>
            <a:ext cx="987552" cy="292608"/>
          </a:xfrm>
          <a:prstGeom prst="roundRect">
            <a:avLst>
              <a:gd name="adj" fmla="val 15625"/>
            </a:avLst>
          </a:prstGeom>
          <a:solidFill>
            <a:srgbClr val="0D9488">
              <a:alpha val="80000"/>
            </a:srgbClr>
          </a:solidFill>
          <a:ln w="12700">
            <a:solidFill>
              <a:srgbClr val="0D9488"/>
            </a:solidFill>
            <a:prstDash val="solid"/>
          </a:ln>
        </p:spPr>
        <p:txBody>
          <a:bodyPr/>
          <a:lstStyle/>
          <a:p>
            <a:endParaRPr lang="en-US"/>
          </a:p>
        </p:txBody>
      </p:sp>
      <p:sp>
        <p:nvSpPr>
          <p:cNvPr id="91" name="Text 89"/>
          <p:cNvSpPr/>
          <p:nvPr/>
        </p:nvSpPr>
        <p:spPr>
          <a:xfrm>
            <a:off x="5614416" y="3675888"/>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Documented</a:t>
            </a:r>
            <a:endParaRPr lang="en-US" sz="850" dirty="0"/>
          </a:p>
        </p:txBody>
      </p:sp>
      <p:sp>
        <p:nvSpPr>
          <p:cNvPr id="92" name="Shape 90"/>
          <p:cNvSpPr/>
          <p:nvPr/>
        </p:nvSpPr>
        <p:spPr>
          <a:xfrm>
            <a:off x="6967728" y="3675888"/>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93" name="Text 91"/>
          <p:cNvSpPr/>
          <p:nvPr/>
        </p:nvSpPr>
        <p:spPr>
          <a:xfrm>
            <a:off x="6967728" y="3675888"/>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
        <p:nvSpPr>
          <p:cNvPr id="94" name="Shape 92"/>
          <p:cNvSpPr/>
          <p:nvPr/>
        </p:nvSpPr>
        <p:spPr>
          <a:xfrm>
            <a:off x="8321040" y="3675888"/>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95" name="Text 93"/>
          <p:cNvSpPr/>
          <p:nvPr/>
        </p:nvSpPr>
        <p:spPr>
          <a:xfrm>
            <a:off x="8321040" y="3675888"/>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96" name="Shape 94"/>
          <p:cNvSpPr/>
          <p:nvPr/>
        </p:nvSpPr>
        <p:spPr>
          <a:xfrm>
            <a:off x="228600" y="4114800"/>
            <a:ext cx="8686800" cy="475488"/>
          </a:xfrm>
          <a:prstGeom prst="rect">
            <a:avLst/>
          </a:prstGeom>
          <a:solidFill>
            <a:srgbClr val="FFFFFF"/>
          </a:solidFill>
          <a:ln w="6350">
            <a:solidFill>
              <a:srgbClr val="CBD5E1"/>
            </a:solidFill>
            <a:prstDash val="solid"/>
          </a:ln>
        </p:spPr>
        <p:txBody>
          <a:bodyPr/>
          <a:lstStyle/>
          <a:p>
            <a:endParaRPr lang="en-US"/>
          </a:p>
        </p:txBody>
      </p:sp>
      <p:sp>
        <p:nvSpPr>
          <p:cNvPr id="97" name="Text 95"/>
          <p:cNvSpPr/>
          <p:nvPr/>
        </p:nvSpPr>
        <p:spPr>
          <a:xfrm>
            <a:off x="320040" y="4114800"/>
            <a:ext cx="1005840" cy="47548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Royal Cyber</a:t>
            </a:r>
            <a:endParaRPr lang="en-US" sz="1000" dirty="0"/>
          </a:p>
        </p:txBody>
      </p:sp>
      <p:sp>
        <p:nvSpPr>
          <p:cNvPr id="98" name="Shape 96"/>
          <p:cNvSpPr/>
          <p:nvPr/>
        </p:nvSpPr>
        <p:spPr>
          <a:xfrm>
            <a:off x="1554480" y="420624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99" name="Text 97"/>
          <p:cNvSpPr/>
          <p:nvPr/>
        </p:nvSpPr>
        <p:spPr>
          <a:xfrm>
            <a:off x="1554480" y="420624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100" name="Shape 98"/>
          <p:cNvSpPr/>
          <p:nvPr/>
        </p:nvSpPr>
        <p:spPr>
          <a:xfrm>
            <a:off x="2907792" y="420624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101" name="Text 99"/>
          <p:cNvSpPr/>
          <p:nvPr/>
        </p:nvSpPr>
        <p:spPr>
          <a:xfrm>
            <a:off x="2907792" y="420624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102" name="Shape 100"/>
          <p:cNvSpPr/>
          <p:nvPr/>
        </p:nvSpPr>
        <p:spPr>
          <a:xfrm>
            <a:off x="4261104" y="420624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103" name="Text 101"/>
          <p:cNvSpPr/>
          <p:nvPr/>
        </p:nvSpPr>
        <p:spPr>
          <a:xfrm>
            <a:off x="4261104" y="420624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104" name="Shape 102"/>
          <p:cNvSpPr/>
          <p:nvPr/>
        </p:nvSpPr>
        <p:spPr>
          <a:xfrm>
            <a:off x="5614416" y="4206240"/>
            <a:ext cx="987552" cy="292608"/>
          </a:xfrm>
          <a:prstGeom prst="roundRect">
            <a:avLst>
              <a:gd name="adj" fmla="val 15625"/>
            </a:avLst>
          </a:prstGeom>
          <a:solidFill>
            <a:srgbClr val="F59E0B">
              <a:alpha val="80000"/>
            </a:srgbClr>
          </a:solidFill>
          <a:ln w="12700">
            <a:solidFill>
              <a:srgbClr val="F59E0B"/>
            </a:solidFill>
            <a:prstDash val="solid"/>
          </a:ln>
        </p:spPr>
        <p:txBody>
          <a:bodyPr/>
          <a:lstStyle/>
          <a:p>
            <a:endParaRPr lang="en-US"/>
          </a:p>
        </p:txBody>
      </p:sp>
      <p:sp>
        <p:nvSpPr>
          <p:cNvPr id="105" name="Text 103"/>
          <p:cNvSpPr/>
          <p:nvPr/>
        </p:nvSpPr>
        <p:spPr>
          <a:xfrm>
            <a:off x="5614416" y="4206240"/>
            <a:ext cx="987552" cy="292608"/>
          </a:xfrm>
          <a:prstGeom prst="rect">
            <a:avLst/>
          </a:prstGeom>
          <a:noFill/>
          <a:ln/>
        </p:spPr>
        <p:txBody>
          <a:bodyPr wrap="square" rtlCol="0" anchor="ctr"/>
          <a:lstStyle/>
          <a:p>
            <a:pPr marL="0" indent="0" algn="ctr">
              <a:buNone/>
            </a:pPr>
            <a:r>
              <a:rPr lang="en-US" sz="850" b="1" dirty="0">
                <a:solidFill>
                  <a:srgbClr val="1E293B"/>
                </a:solidFill>
                <a:latin typeface="Calibri" pitchFamily="34" charset="0"/>
                <a:ea typeface="Calibri" pitchFamily="34" charset="-122"/>
                <a:cs typeface="Calibri" pitchFamily="34" charset="-120"/>
              </a:rPr>
              <a:t>Claimed</a:t>
            </a:r>
            <a:endParaRPr lang="en-US" sz="850" dirty="0"/>
          </a:p>
        </p:txBody>
      </p:sp>
      <p:sp>
        <p:nvSpPr>
          <p:cNvPr id="106" name="Shape 104"/>
          <p:cNvSpPr/>
          <p:nvPr/>
        </p:nvSpPr>
        <p:spPr>
          <a:xfrm>
            <a:off x="6967728" y="4206240"/>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107" name="Text 105"/>
          <p:cNvSpPr/>
          <p:nvPr/>
        </p:nvSpPr>
        <p:spPr>
          <a:xfrm>
            <a:off x="6967728" y="4206240"/>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
        <p:nvSpPr>
          <p:cNvPr id="108" name="Shape 106"/>
          <p:cNvSpPr/>
          <p:nvPr/>
        </p:nvSpPr>
        <p:spPr>
          <a:xfrm>
            <a:off x="8321040" y="4206240"/>
            <a:ext cx="987552" cy="292608"/>
          </a:xfrm>
          <a:prstGeom prst="roundRect">
            <a:avLst>
              <a:gd name="adj" fmla="val 15625"/>
            </a:avLst>
          </a:prstGeom>
          <a:solidFill>
            <a:srgbClr val="EF4444"/>
          </a:solidFill>
          <a:ln w="12700">
            <a:solidFill>
              <a:srgbClr val="EF4444"/>
            </a:solidFill>
            <a:prstDash val="solid"/>
          </a:ln>
        </p:spPr>
        <p:txBody>
          <a:bodyPr/>
          <a:lstStyle/>
          <a:p>
            <a:endParaRPr lang="en-US"/>
          </a:p>
        </p:txBody>
      </p:sp>
      <p:sp>
        <p:nvSpPr>
          <p:cNvPr id="109" name="Text 107"/>
          <p:cNvSpPr/>
          <p:nvPr/>
        </p:nvSpPr>
        <p:spPr>
          <a:xfrm>
            <a:off x="8321040" y="4206240"/>
            <a:ext cx="987552"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Silent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Data Opportunity  ·  Beyond Surveys</a:t>
            </a:r>
            <a:endParaRPr lang="en-US" sz="1600" dirty="0"/>
          </a:p>
        </p:txBody>
      </p:sp>
      <p:sp>
        <p:nvSpPr>
          <p:cNvPr id="4" name="Shape 2"/>
          <p:cNvSpPr/>
          <p:nvPr/>
        </p:nvSpPr>
        <p:spPr>
          <a:xfrm>
            <a:off x="274320" y="731520"/>
            <a:ext cx="3931920" cy="2103120"/>
          </a:xfrm>
          <a:prstGeom prst="rect">
            <a:avLst/>
          </a:prstGeom>
          <a:solidFill>
            <a:srgbClr val="F0FDF4"/>
          </a:solidFill>
          <a:ln w="19050">
            <a:solidFill>
              <a:srgbClr val="0D9488"/>
            </a:solidFill>
            <a:prstDash val="solid"/>
          </a:ln>
        </p:spPr>
        <p:txBody>
          <a:bodyPr/>
          <a:lstStyle/>
          <a:p>
            <a:endParaRPr lang="en-US"/>
          </a:p>
        </p:txBody>
      </p:sp>
      <p:sp>
        <p:nvSpPr>
          <p:cNvPr id="5" name="Text 3"/>
          <p:cNvSpPr/>
          <p:nvPr/>
        </p:nvSpPr>
        <p:spPr>
          <a:xfrm>
            <a:off x="411480" y="804672"/>
            <a:ext cx="3657600" cy="32004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The Opportunity</a:t>
            </a:r>
            <a:endParaRPr lang="en-US" sz="1300" dirty="0"/>
          </a:p>
        </p:txBody>
      </p:sp>
      <p:sp>
        <p:nvSpPr>
          <p:cNvPr id="6" name="Text 4"/>
          <p:cNvSpPr/>
          <p:nvPr/>
        </p:nvSpPr>
        <p:spPr>
          <a:xfrm>
            <a:off x="411480" y="1170432"/>
            <a:ext cx="3657600" cy="1554480"/>
          </a:xfrm>
          <a:prstGeom prst="rect">
            <a:avLst/>
          </a:prstGeom>
          <a:noFill/>
          <a:ln/>
        </p:spPr>
        <p:txBody>
          <a:bodyPr wrap="square" rtlCol="0" anchor="ctr"/>
          <a:lstStyle/>
          <a:p>
            <a:pPr marL="0" indent="0">
              <a:lnSpc>
                <a:spcPct val="135000"/>
              </a:lnSpc>
              <a:buNone/>
            </a:pPr>
            <a:r>
              <a:rPr lang="en-US" sz="1100" dirty="0">
                <a:solidFill>
                  <a:srgbClr val="1E293B"/>
                </a:solidFill>
                <a:latin typeface="Calibri" pitchFamily="34" charset="0"/>
                <a:ea typeface="Calibri" pitchFamily="34" charset="-122"/>
                <a:cs typeface="Calibri" pitchFamily="34" charset="-120"/>
              </a:rPr>
              <a:t>6 vendors generating real student interaction data
Behavioral logs reveal what surveys miss
Patterns across 380,000 students at 64 campuses
A system-level view no single campus could generate</a:t>
            </a:r>
            <a:endParaRPr lang="en-US" sz="1100" dirty="0"/>
          </a:p>
        </p:txBody>
      </p:sp>
      <p:sp>
        <p:nvSpPr>
          <p:cNvPr id="7" name="Text 5"/>
          <p:cNvSpPr/>
          <p:nvPr/>
        </p:nvSpPr>
        <p:spPr>
          <a:xfrm>
            <a:off x="4251960" y="1508760"/>
            <a:ext cx="548640" cy="457200"/>
          </a:xfrm>
          <a:prstGeom prst="rect">
            <a:avLst/>
          </a:prstGeom>
          <a:noFill/>
          <a:ln/>
        </p:spPr>
        <p:txBody>
          <a:bodyPr wrap="square" rtlCol="0" anchor="ctr"/>
          <a:lstStyle/>
          <a:p>
            <a:pPr marL="0" indent="0" algn="ctr">
              <a:buNone/>
            </a:pPr>
            <a:r>
              <a:rPr lang="en-US" sz="2400" b="1" dirty="0">
                <a:solidFill>
                  <a:srgbClr val="1B2A4A"/>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846320" y="731520"/>
            <a:ext cx="4023360" cy="2103120"/>
          </a:xfrm>
          <a:prstGeom prst="rect">
            <a:avLst/>
          </a:prstGeom>
          <a:solidFill>
            <a:srgbClr val="EFF6FF"/>
          </a:solidFill>
          <a:ln w="19050">
            <a:solidFill>
              <a:srgbClr val="1B2A4A"/>
            </a:solidFill>
            <a:prstDash val="solid"/>
          </a:ln>
        </p:spPr>
        <p:txBody>
          <a:bodyPr/>
          <a:lstStyle/>
          <a:p>
            <a:endParaRPr lang="en-US"/>
          </a:p>
        </p:txBody>
      </p:sp>
      <p:sp>
        <p:nvSpPr>
          <p:cNvPr id="9" name="Text 7"/>
          <p:cNvSpPr/>
          <p:nvPr/>
        </p:nvSpPr>
        <p:spPr>
          <a:xfrm>
            <a:off x="4983480" y="804672"/>
            <a:ext cx="374904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Implementation</a:t>
            </a:r>
            <a:endParaRPr lang="en-US" sz="1300" dirty="0"/>
          </a:p>
        </p:txBody>
      </p:sp>
      <p:sp>
        <p:nvSpPr>
          <p:cNvPr id="10" name="Text 8"/>
          <p:cNvSpPr/>
          <p:nvPr/>
        </p:nvSpPr>
        <p:spPr>
          <a:xfrm>
            <a:off x="4983480" y="1170432"/>
            <a:ext cx="3749040" cy="1554480"/>
          </a:xfrm>
          <a:prstGeom prst="rect">
            <a:avLst/>
          </a:prstGeom>
          <a:noFill/>
          <a:ln/>
        </p:spPr>
        <p:txBody>
          <a:bodyPr wrap="square" rtlCol="0" anchor="ctr"/>
          <a:lstStyle/>
          <a:p>
            <a:pPr marL="0" indent="0">
              <a:lnSpc>
                <a:spcPct val="135000"/>
              </a:lnSpc>
              <a:buNone/>
            </a:pPr>
            <a:r>
              <a:rPr lang="en-US" sz="1100" dirty="0">
                <a:solidFill>
                  <a:srgbClr val="1E293B"/>
                </a:solidFill>
                <a:latin typeface="Calibri" pitchFamily="34" charset="0"/>
                <a:ea typeface="Calibri" pitchFamily="34" charset="-122"/>
                <a:cs typeface="Calibri" pitchFamily="34" charset="-120"/>
              </a:rPr>
              <a:t>Require behavioral data access in pilot contracts
Co-design shared embedded survey items (3–5 questions every vendor asks)
One cross-vendor analytics framework
Designate a dataset owner before pilots launch</a:t>
            </a:r>
            <a:endParaRPr lang="en-US" sz="1100" dirty="0"/>
          </a:p>
        </p:txBody>
      </p:sp>
      <p:sp>
        <p:nvSpPr>
          <p:cNvPr id="11" name="Shape 9"/>
          <p:cNvSpPr/>
          <p:nvPr/>
        </p:nvSpPr>
        <p:spPr>
          <a:xfrm>
            <a:off x="274320" y="3017520"/>
            <a:ext cx="8595360" cy="1463040"/>
          </a:xfrm>
          <a:prstGeom prst="rect">
            <a:avLst/>
          </a:prstGeom>
          <a:solidFill>
            <a:srgbClr val="1B2A4A"/>
          </a:solidFill>
          <a:ln w="12700">
            <a:solidFill>
              <a:srgbClr val="1B2A4A"/>
            </a:solidFill>
            <a:prstDash val="solid"/>
          </a:ln>
        </p:spPr>
        <p:txBody>
          <a:bodyPr/>
          <a:lstStyle/>
          <a:p>
            <a:endParaRPr lang="en-US"/>
          </a:p>
        </p:txBody>
      </p:sp>
      <p:sp>
        <p:nvSpPr>
          <p:cNvPr id="12" name="Text 10"/>
          <p:cNvSpPr/>
          <p:nvPr/>
        </p:nvSpPr>
        <p:spPr>
          <a:xfrm>
            <a:off x="457200" y="3090672"/>
            <a:ext cx="8229600" cy="32004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The Design Principle</a:t>
            </a:r>
            <a:endParaRPr lang="en-US" sz="1300" dirty="0"/>
          </a:p>
        </p:txBody>
      </p:sp>
      <p:sp>
        <p:nvSpPr>
          <p:cNvPr id="13" name="Text 11"/>
          <p:cNvSpPr/>
          <p:nvPr/>
        </p:nvSpPr>
        <p:spPr>
          <a:xfrm>
            <a:off x="457200" y="3429000"/>
            <a:ext cx="8229600" cy="960120"/>
          </a:xfrm>
          <a:prstGeom prst="rect">
            <a:avLst/>
          </a:prstGeom>
          <a:noFill/>
          <a:ln/>
        </p:spPr>
        <p:txBody>
          <a:bodyPr wrap="square" rtlCol="0" anchor="ctr"/>
          <a:lstStyle/>
          <a:p>
            <a:pPr marL="0" indent="0">
              <a:lnSpc>
                <a:spcPct val="135000"/>
              </a:lnSpc>
              <a:buNone/>
            </a:pPr>
            <a:r>
              <a:rPr lang="en-US" sz="1100" dirty="0">
                <a:solidFill>
                  <a:srgbClr val="FFFFFF"/>
                </a:solidFill>
                <a:latin typeface="Calibri" pitchFamily="34" charset="0"/>
                <a:ea typeface="Calibri" pitchFamily="34" charset="-122"/>
                <a:cs typeface="Calibri" pitchFamily="34" charset="-120"/>
              </a:rPr>
              <a:t>Six pilots running in parallel is six times the data — but only if we design for comparison from day one. Common questions, shared schema, single analytical frame. The goal is not six vendor reports. It is one coherent picture of AI advising across SUNY.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Engaging AI Fellows  ·  A Focus Group with a Purpose</a:t>
            </a:r>
            <a:endParaRPr lang="en-US" sz="1600" dirty="0"/>
          </a:p>
        </p:txBody>
      </p:sp>
      <p:sp>
        <p:nvSpPr>
          <p:cNvPr id="4" name="Shape 2"/>
          <p:cNvSpPr/>
          <p:nvPr/>
        </p:nvSpPr>
        <p:spPr>
          <a:xfrm>
            <a:off x="228600" y="658368"/>
            <a:ext cx="8686800" cy="502920"/>
          </a:xfrm>
          <a:prstGeom prst="rect">
            <a:avLst/>
          </a:prstGeom>
          <a:solidFill>
            <a:srgbClr val="EFF6FF"/>
          </a:solidFill>
          <a:ln w="12700">
            <a:solidFill>
              <a:srgbClr val="CBD5E1"/>
            </a:solidFill>
            <a:prstDash val="solid"/>
          </a:ln>
        </p:spPr>
        <p:txBody>
          <a:bodyPr/>
          <a:lstStyle/>
          <a:p>
            <a:endParaRPr lang="en-US"/>
          </a:p>
        </p:txBody>
      </p:sp>
      <p:sp>
        <p:nvSpPr>
          <p:cNvPr id="5" name="Text 3"/>
          <p:cNvSpPr/>
          <p:nvPr/>
        </p:nvSpPr>
        <p:spPr>
          <a:xfrm>
            <a:off x="365760" y="676656"/>
            <a:ext cx="8412480" cy="45720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AI Fellows serve faculty, instructional designers, and librarians — not advising centers. That's exactly why their perspective matters here. As AI advising systems arrive on campus, these are the colleagues students and faculty will turn to with questions.</a:t>
            </a:r>
            <a:endParaRPr lang="en-US" sz="900" dirty="0"/>
          </a:p>
        </p:txBody>
      </p:sp>
      <p:sp>
        <p:nvSpPr>
          <p:cNvPr id="6" name="Shape 4"/>
          <p:cNvSpPr/>
          <p:nvPr/>
        </p:nvSpPr>
        <p:spPr>
          <a:xfrm>
            <a:off x="228600" y="1234440"/>
            <a:ext cx="8686800" cy="640080"/>
          </a:xfrm>
          <a:prstGeom prst="rect">
            <a:avLst/>
          </a:prstGeom>
          <a:solidFill>
            <a:srgbClr val="FFFFFF"/>
          </a:solidFill>
          <a:ln w="9525">
            <a:solidFill>
              <a:srgbClr val="CBD5E1"/>
            </a:solidFill>
            <a:prstDash val="solid"/>
          </a:ln>
        </p:spPr>
        <p:txBody>
          <a:bodyPr/>
          <a:lstStyle/>
          <a:p>
            <a:endParaRPr lang="en-US"/>
          </a:p>
        </p:txBody>
      </p:sp>
      <p:sp>
        <p:nvSpPr>
          <p:cNvPr id="7" name="Shape 5"/>
          <p:cNvSpPr/>
          <p:nvPr/>
        </p:nvSpPr>
        <p:spPr>
          <a:xfrm>
            <a:off x="228600" y="1234440"/>
            <a:ext cx="411480" cy="640080"/>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228600" y="1234440"/>
            <a:ext cx="4114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731520" y="1298448"/>
            <a:ext cx="8046720" cy="530352"/>
          </a:xfrm>
          <a:prstGeom prst="rect">
            <a:avLst/>
          </a:prstGeom>
          <a:noFill/>
          <a:ln/>
        </p:spPr>
        <p:txBody>
          <a:bodyPr wrap="square" rtlCol="0" anchor="ctr"/>
          <a:lstStyle/>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When an AI advising system gives a student wrong information about degree requirements, who on campus is responsible — and how would you find out it happened?</a:t>
            </a:r>
            <a:endParaRPr lang="en-US" sz="1050" dirty="0"/>
          </a:p>
        </p:txBody>
      </p:sp>
      <p:sp>
        <p:nvSpPr>
          <p:cNvPr id="10" name="Shape 8"/>
          <p:cNvSpPr/>
          <p:nvPr/>
        </p:nvSpPr>
        <p:spPr>
          <a:xfrm>
            <a:off x="228600" y="1947672"/>
            <a:ext cx="8686800" cy="640080"/>
          </a:xfrm>
          <a:prstGeom prst="rect">
            <a:avLst/>
          </a:prstGeom>
          <a:solidFill>
            <a:srgbClr val="FFFFFF"/>
          </a:solidFill>
          <a:ln w="9525">
            <a:solidFill>
              <a:srgbClr val="CBD5E1"/>
            </a:solidFill>
            <a:prstDash val="solid"/>
          </a:ln>
        </p:spPr>
        <p:txBody>
          <a:bodyPr/>
          <a:lstStyle/>
          <a:p>
            <a:endParaRPr lang="en-US"/>
          </a:p>
        </p:txBody>
      </p:sp>
      <p:sp>
        <p:nvSpPr>
          <p:cNvPr id="11" name="Shape 9"/>
          <p:cNvSpPr/>
          <p:nvPr/>
        </p:nvSpPr>
        <p:spPr>
          <a:xfrm>
            <a:off x="228600" y="1947672"/>
            <a:ext cx="411480" cy="64008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228600" y="1947672"/>
            <a:ext cx="4114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731520" y="2011680"/>
            <a:ext cx="8046720" cy="530352"/>
          </a:xfrm>
          <a:prstGeom prst="rect">
            <a:avLst/>
          </a:prstGeom>
          <a:noFill/>
          <a:ln/>
        </p:spPr>
        <p:txBody>
          <a:bodyPr wrap="square" rtlCol="0" anchor="ctr"/>
          <a:lstStyle/>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What would faculty want to know about how an AI advisor was trained on their course and degree data?</a:t>
            </a:r>
            <a:endParaRPr lang="en-US" sz="1050" dirty="0"/>
          </a:p>
        </p:txBody>
      </p:sp>
      <p:sp>
        <p:nvSpPr>
          <p:cNvPr id="14" name="Shape 12"/>
          <p:cNvSpPr/>
          <p:nvPr/>
        </p:nvSpPr>
        <p:spPr>
          <a:xfrm>
            <a:off x="228600" y="2660904"/>
            <a:ext cx="8686800" cy="640080"/>
          </a:xfrm>
          <a:prstGeom prst="rect">
            <a:avLst/>
          </a:prstGeom>
          <a:solidFill>
            <a:srgbClr val="FFFFFF"/>
          </a:solidFill>
          <a:ln w="9525">
            <a:solidFill>
              <a:srgbClr val="CBD5E1"/>
            </a:solidFill>
            <a:prstDash val="solid"/>
          </a:ln>
        </p:spPr>
        <p:txBody>
          <a:bodyPr/>
          <a:lstStyle/>
          <a:p>
            <a:endParaRPr lang="en-US"/>
          </a:p>
        </p:txBody>
      </p:sp>
      <p:sp>
        <p:nvSpPr>
          <p:cNvPr id="15" name="Shape 13"/>
          <p:cNvSpPr/>
          <p:nvPr/>
        </p:nvSpPr>
        <p:spPr>
          <a:xfrm>
            <a:off x="228600" y="2660904"/>
            <a:ext cx="411480" cy="640080"/>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228600" y="2660904"/>
            <a:ext cx="4114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731520" y="2724912"/>
            <a:ext cx="8046720" cy="530352"/>
          </a:xfrm>
          <a:prstGeom prst="rect">
            <a:avLst/>
          </a:prstGeom>
          <a:noFill/>
          <a:ln/>
        </p:spPr>
        <p:txBody>
          <a:bodyPr wrap="square" rtlCol="0" anchor="ctr"/>
          <a:lstStyle/>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If a student comes to you saying 'the AI told me I was on track to graduate' — and they weren't — what's your response?</a:t>
            </a:r>
            <a:endParaRPr lang="en-US" sz="1050" dirty="0"/>
          </a:p>
        </p:txBody>
      </p:sp>
      <p:sp>
        <p:nvSpPr>
          <p:cNvPr id="18" name="Shape 16"/>
          <p:cNvSpPr/>
          <p:nvPr/>
        </p:nvSpPr>
        <p:spPr>
          <a:xfrm>
            <a:off x="228600" y="3374136"/>
            <a:ext cx="8686800" cy="640080"/>
          </a:xfrm>
          <a:prstGeom prst="rect">
            <a:avLst/>
          </a:prstGeom>
          <a:solidFill>
            <a:srgbClr val="FFFFFF"/>
          </a:solidFill>
          <a:ln w="9525">
            <a:solidFill>
              <a:srgbClr val="CBD5E1"/>
            </a:solidFill>
            <a:prstDash val="solid"/>
          </a:ln>
        </p:spPr>
        <p:txBody>
          <a:bodyPr/>
          <a:lstStyle/>
          <a:p>
            <a:endParaRPr lang="en-US"/>
          </a:p>
        </p:txBody>
      </p:sp>
      <p:sp>
        <p:nvSpPr>
          <p:cNvPr id="19" name="Shape 17"/>
          <p:cNvSpPr/>
          <p:nvPr/>
        </p:nvSpPr>
        <p:spPr>
          <a:xfrm>
            <a:off x="228600" y="3374136"/>
            <a:ext cx="411480" cy="64008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228600" y="3374136"/>
            <a:ext cx="4114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1" name="Text 19"/>
          <p:cNvSpPr/>
          <p:nvPr/>
        </p:nvSpPr>
        <p:spPr>
          <a:xfrm>
            <a:off x="731520" y="3438144"/>
            <a:ext cx="8046720" cy="530352"/>
          </a:xfrm>
          <a:prstGeom prst="rect">
            <a:avLst/>
          </a:prstGeom>
          <a:noFill/>
          <a:ln/>
        </p:spPr>
        <p:txBody>
          <a:bodyPr wrap="square" rtlCol="0" anchor="ctr"/>
          <a:lstStyle/>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What questions should a campus be asking a vendor before going live with an AI advising system?</a:t>
            </a:r>
            <a:endParaRPr lang="en-US" sz="1050" dirty="0"/>
          </a:p>
        </p:txBody>
      </p:sp>
      <p:sp>
        <p:nvSpPr>
          <p:cNvPr id="22" name="Shape 20"/>
          <p:cNvSpPr/>
          <p:nvPr/>
        </p:nvSpPr>
        <p:spPr>
          <a:xfrm>
            <a:off x="228600" y="4087368"/>
            <a:ext cx="8686800" cy="640080"/>
          </a:xfrm>
          <a:prstGeom prst="rect">
            <a:avLst/>
          </a:prstGeom>
          <a:solidFill>
            <a:srgbClr val="FFFFFF"/>
          </a:solidFill>
          <a:ln w="9525">
            <a:solidFill>
              <a:srgbClr val="CBD5E1"/>
            </a:solidFill>
            <a:prstDash val="solid"/>
          </a:ln>
        </p:spPr>
        <p:txBody>
          <a:bodyPr/>
          <a:lstStyle/>
          <a:p>
            <a:endParaRPr lang="en-US"/>
          </a:p>
        </p:txBody>
      </p:sp>
      <p:sp>
        <p:nvSpPr>
          <p:cNvPr id="23" name="Shape 21"/>
          <p:cNvSpPr/>
          <p:nvPr/>
        </p:nvSpPr>
        <p:spPr>
          <a:xfrm>
            <a:off x="228600" y="4087368"/>
            <a:ext cx="411480" cy="640080"/>
          </a:xfrm>
          <a:prstGeom prst="rect">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228600" y="4087368"/>
            <a:ext cx="4114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5" name="Text 23"/>
          <p:cNvSpPr/>
          <p:nvPr/>
        </p:nvSpPr>
        <p:spPr>
          <a:xfrm>
            <a:off x="731520" y="4151376"/>
            <a:ext cx="8046720" cy="530352"/>
          </a:xfrm>
          <a:prstGeom prst="rect">
            <a:avLst/>
          </a:prstGeom>
          <a:noFill/>
          <a:ln/>
        </p:spPr>
        <p:txBody>
          <a:bodyPr wrap="square" rtlCol="0" anchor="ctr"/>
          <a:lstStyle/>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What would a thoughtful piece for faculty, designers, and librarians about AI advising systems actually need to say?</a:t>
            </a:r>
            <a:endParaRPr lang="en-US" sz="1050" dirty="0"/>
          </a:p>
        </p:txBody>
      </p:sp>
      <p:sp>
        <p:nvSpPr>
          <p:cNvPr id="26" name="Text 24"/>
          <p:cNvSpPr/>
          <p:nvPr/>
        </p:nvSpPr>
        <p:spPr>
          <a:xfrm>
            <a:off x="228600" y="4828032"/>
            <a:ext cx="8686800" cy="27432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Format: regular meeting or dedicated session  ·  Output: a thoughtful published piece about AI advising systems for the SUNY academic community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643</Words>
  <Application>Microsoft Macintosh PowerPoint</Application>
  <PresentationFormat>On-screen Show (16:9)</PresentationFormat>
  <Paragraphs>231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Steven Schneider</cp:lastModifiedBy>
  <cp:revision>1</cp:revision>
  <dcterms:created xsi:type="dcterms:W3CDTF">2026-03-12T19:40:29Z</dcterms:created>
  <dcterms:modified xsi:type="dcterms:W3CDTF">2026-03-12T19:45:04Z</dcterms:modified>
</cp:coreProperties>
</file>