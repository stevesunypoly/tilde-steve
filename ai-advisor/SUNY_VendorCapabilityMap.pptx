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91640" cy="5143500"/>
          </a:xfrm>
          <a:prstGeom prst="rect">
            <a:avLst/>
          </a:prstGeom>
          <a:solidFill>
            <a:srgbClr val="0D2159"/>
          </a:solidFill>
          <a:ln w="12700">
            <a:solidFill>
              <a:srgbClr val="0D21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8288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2159"/>
                </a:solidFill>
              </a:rPr>
              <a:t>SUNY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828800" y="10972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2159"/>
                </a:solidFill>
              </a:rPr>
              <a:t>Vendor Capability Mapping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28800" y="47548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Selected Pilot Vendors vs. Functional Requirements  |  ● Strong  ◐ Partial  ○ Gap  (* New to SUNY pilot)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0" y="731520"/>
            <a:ext cx="7132320" cy="27432"/>
          </a:xfrm>
          <a:prstGeom prst="rect">
            <a:avLst/>
          </a:prstGeom>
          <a:solidFill>
            <a:srgbClr val="009FD4"/>
          </a:solidFill>
          <a:ln w="12700">
            <a:solidFill>
              <a:srgbClr val="009F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777240"/>
            <a:ext cx="7132320" cy="242316"/>
          </a:xfrm>
          <a:prstGeom prst="rect">
            <a:avLst/>
          </a:prstGeom>
          <a:solidFill>
            <a:srgbClr val="0D2159"/>
          </a:solidFill>
          <a:ln w="12700">
            <a:solidFill>
              <a:srgbClr val="0D21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83664" y="777240"/>
            <a:ext cx="202996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Functional Requirement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931920" y="777240"/>
            <a:ext cx="8382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D2L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(Lumi*)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70120" y="777240"/>
            <a:ext cx="8382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EAB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08320" y="777240"/>
            <a:ext cx="8382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Ellucian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46520" y="777240"/>
            <a:ext cx="8382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Gravyty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284720" y="777240"/>
            <a:ext cx="8382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Nerdery*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122920" y="777240"/>
            <a:ext cx="8382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Royal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Cyber*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0" y="1019556"/>
            <a:ext cx="7132320" cy="160020"/>
          </a:xfrm>
          <a:prstGeom prst="rect">
            <a:avLst/>
          </a:prstGeom>
          <a:solidFill>
            <a:srgbClr val="1B4FBF"/>
          </a:solidFill>
          <a:ln w="12700">
            <a:solidFill>
              <a:srgbClr val="1B4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01952" y="1019556"/>
            <a:ext cx="7040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STUDENT-FACING CAPABILITIES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828800" y="1179576"/>
            <a:ext cx="713232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83664" y="1179576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Course &amp; degree guidance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959352" y="1207008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117957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97552" y="1207008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0120" y="117957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35752" y="1207008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08320" y="117957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73952" y="1207008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17957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2152" y="1207008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84720" y="117957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50352" y="1207008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22920" y="117957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828800" y="1367028"/>
            <a:ext cx="7132320" cy="18745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83664" y="1367028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Degree progress / what-if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959352" y="1394460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0" y="136702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97552" y="1394460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0120" y="136702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35752" y="1394460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08320" y="136702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73952" y="1394460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136702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312152" y="1394460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84720" y="136702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150352" y="1394460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22920" y="136702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828800" y="1554480"/>
            <a:ext cx="713232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83664" y="1554480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Financial aid &amp; FAFSA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959352" y="1581912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0" y="155448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97552" y="1581912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0120" y="155448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635752" y="1581912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08320" y="155448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473952" y="1581912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46520" y="155448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312152" y="1581912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84720" y="155448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150352" y="1581912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22920" y="155448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828800" y="1741932"/>
            <a:ext cx="7132320" cy="18745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83664" y="1741932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Transfer credit &amp; articulation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959352" y="1769364"/>
            <a:ext cx="783336" cy="13258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31920" y="174193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○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797552" y="1769364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70120" y="174193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635752" y="1769364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08320" y="174193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473952" y="1769364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6520" y="174193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7312152" y="1769364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84720" y="174193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150352" y="1769364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122920" y="174193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828800" y="1929384"/>
            <a:ext cx="713232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883664" y="1929384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24/7 chatbot interface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959352" y="1956816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931920" y="192938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797552" y="1956816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70120" y="192938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635752" y="1956816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08320" y="192938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473952" y="1956816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46520" y="192938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7312152" y="1956816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84720" y="192938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150352" y="1956816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122920" y="192938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1828800" y="2116836"/>
            <a:ext cx="7132320" cy="18745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883664" y="2116836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Campus resource navigation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959352" y="2144268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931920" y="211683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4797552" y="2144268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70120" y="211683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5635752" y="2144268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608320" y="211683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6473952" y="2144268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46520" y="211683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7312152" y="2144268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284720" y="211683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8150352" y="2144268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122920" y="211683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1828800" y="2304288"/>
            <a:ext cx="7132320" cy="160020"/>
          </a:xfrm>
          <a:prstGeom prst="rect">
            <a:avLst/>
          </a:prstGeom>
          <a:solidFill>
            <a:srgbClr val="006B77"/>
          </a:solidFill>
          <a:ln w="12700">
            <a:solidFill>
              <a:srgbClr val="006B77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901952" y="2304288"/>
            <a:ext cx="7040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ADVISOR &amp; INSTITUTIONAL TOOLS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1828800" y="2464308"/>
            <a:ext cx="713232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883664" y="2464308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Advisor dashboard &amp; queues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3959352" y="2491740"/>
            <a:ext cx="783336" cy="13258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931920" y="246430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○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4797552" y="2491740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770120" y="246430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5635752" y="2491740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08320" y="246430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6473952" y="2491740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446520" y="246430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7312152" y="2491740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284720" y="246430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8150352" y="2491740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122920" y="246430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1828800" y="2651760"/>
            <a:ext cx="7132320" cy="18745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883664" y="2651760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AI-to-advisor handoff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3959352" y="2679192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931920" y="265176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4797552" y="2679192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770120" y="265176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5635752" y="2679192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608320" y="265176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6473952" y="2679192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446520" y="265176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7312152" y="2679192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284720" y="265176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8150352" y="2679192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122920" y="265176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1828800" y="2839212"/>
            <a:ext cx="713232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883664" y="2839212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Case management &amp; workflow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3959352" y="2866644"/>
            <a:ext cx="783336" cy="13258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931920" y="283921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○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4797552" y="2866644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770120" y="283921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5635752" y="2866644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608320" y="283921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140" name="Shape 138"/>
          <p:cNvSpPr/>
          <p:nvPr/>
        </p:nvSpPr>
        <p:spPr>
          <a:xfrm>
            <a:off x="6473952" y="2866644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446520" y="283921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7312152" y="2866644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7284720" y="283921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144" name="Shape 142"/>
          <p:cNvSpPr/>
          <p:nvPr/>
        </p:nvSpPr>
        <p:spPr>
          <a:xfrm>
            <a:off x="8150352" y="2866644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122920" y="283921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146" name="Shape 144"/>
          <p:cNvSpPr/>
          <p:nvPr/>
        </p:nvSpPr>
        <p:spPr>
          <a:xfrm>
            <a:off x="1828800" y="3026664"/>
            <a:ext cx="7132320" cy="18745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883664" y="3026664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Proactive outreach &amp; nudges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3959352" y="3054096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931920" y="302666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50" name="Shape 148"/>
          <p:cNvSpPr/>
          <p:nvPr/>
        </p:nvSpPr>
        <p:spPr>
          <a:xfrm>
            <a:off x="4797552" y="3054096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770120" y="302666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52" name="Shape 150"/>
          <p:cNvSpPr/>
          <p:nvPr/>
        </p:nvSpPr>
        <p:spPr>
          <a:xfrm>
            <a:off x="5635752" y="3054096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608320" y="302666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154" name="Shape 152"/>
          <p:cNvSpPr/>
          <p:nvPr/>
        </p:nvSpPr>
        <p:spPr>
          <a:xfrm>
            <a:off x="6473952" y="3054096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446520" y="302666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56" name="Shape 154"/>
          <p:cNvSpPr/>
          <p:nvPr/>
        </p:nvSpPr>
        <p:spPr>
          <a:xfrm>
            <a:off x="7312152" y="3054096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7284720" y="302666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158" name="Shape 156"/>
          <p:cNvSpPr/>
          <p:nvPr/>
        </p:nvSpPr>
        <p:spPr>
          <a:xfrm>
            <a:off x="8150352" y="3054096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8122920" y="302666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160" name="Shape 158"/>
          <p:cNvSpPr/>
          <p:nvPr/>
        </p:nvSpPr>
        <p:spPr>
          <a:xfrm>
            <a:off x="1828800" y="3214116"/>
            <a:ext cx="713232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1883664" y="3214116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At-risk identification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3959352" y="3241548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931920" y="321411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164" name="Shape 162"/>
          <p:cNvSpPr/>
          <p:nvPr/>
        </p:nvSpPr>
        <p:spPr>
          <a:xfrm>
            <a:off x="4797552" y="3241548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770120" y="321411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66" name="Shape 164"/>
          <p:cNvSpPr/>
          <p:nvPr/>
        </p:nvSpPr>
        <p:spPr>
          <a:xfrm>
            <a:off x="5635752" y="3241548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608320" y="321411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68" name="Shape 166"/>
          <p:cNvSpPr/>
          <p:nvPr/>
        </p:nvSpPr>
        <p:spPr>
          <a:xfrm>
            <a:off x="6473952" y="3241548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6446520" y="321411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170" name="Shape 168"/>
          <p:cNvSpPr/>
          <p:nvPr/>
        </p:nvSpPr>
        <p:spPr>
          <a:xfrm>
            <a:off x="7312152" y="3241548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7284720" y="321411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72" name="Shape 170"/>
          <p:cNvSpPr/>
          <p:nvPr/>
        </p:nvSpPr>
        <p:spPr>
          <a:xfrm>
            <a:off x="8150352" y="3241548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8122920" y="321411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174" name="Shape 172"/>
          <p:cNvSpPr/>
          <p:nvPr/>
        </p:nvSpPr>
        <p:spPr>
          <a:xfrm>
            <a:off x="1828800" y="3401568"/>
            <a:ext cx="7132320" cy="18745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883664" y="3401568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Data analytics / predictive</a:t>
            </a:r>
            <a:endParaRPr lang="en-US" sz="800" dirty="0"/>
          </a:p>
        </p:txBody>
      </p:sp>
      <p:sp>
        <p:nvSpPr>
          <p:cNvPr id="176" name="Shape 174"/>
          <p:cNvSpPr/>
          <p:nvPr/>
        </p:nvSpPr>
        <p:spPr>
          <a:xfrm>
            <a:off x="3959352" y="3429000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3931920" y="340156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178" name="Shape 176"/>
          <p:cNvSpPr/>
          <p:nvPr/>
        </p:nvSpPr>
        <p:spPr>
          <a:xfrm>
            <a:off x="4797552" y="3429000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4770120" y="340156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80" name="Shape 178"/>
          <p:cNvSpPr/>
          <p:nvPr/>
        </p:nvSpPr>
        <p:spPr>
          <a:xfrm>
            <a:off x="5635752" y="3429000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5608320" y="340156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82" name="Shape 180"/>
          <p:cNvSpPr/>
          <p:nvPr/>
        </p:nvSpPr>
        <p:spPr>
          <a:xfrm>
            <a:off x="6473952" y="3429000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6446520" y="340156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184" name="Shape 182"/>
          <p:cNvSpPr/>
          <p:nvPr/>
        </p:nvSpPr>
        <p:spPr>
          <a:xfrm>
            <a:off x="7312152" y="3429000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7284720" y="340156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86" name="Shape 184"/>
          <p:cNvSpPr/>
          <p:nvPr/>
        </p:nvSpPr>
        <p:spPr>
          <a:xfrm>
            <a:off x="8150352" y="3429000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8122920" y="340156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188" name="Shape 186"/>
          <p:cNvSpPr/>
          <p:nvPr/>
        </p:nvSpPr>
        <p:spPr>
          <a:xfrm>
            <a:off x="1828800" y="3589020"/>
            <a:ext cx="7132320" cy="1600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1901952" y="3589020"/>
            <a:ext cx="7040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TECHNICAL &amp; CROSS-CUTTING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1828800" y="3749040"/>
            <a:ext cx="713232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1883664" y="3749040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SIS integration (Banner/PS)</a:t>
            </a:r>
            <a:endParaRPr lang="en-US" sz="800" dirty="0"/>
          </a:p>
        </p:txBody>
      </p:sp>
      <p:sp>
        <p:nvSpPr>
          <p:cNvPr id="192" name="Shape 190"/>
          <p:cNvSpPr/>
          <p:nvPr/>
        </p:nvSpPr>
        <p:spPr>
          <a:xfrm>
            <a:off x="3959352" y="3776472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931920" y="374904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194" name="Shape 192"/>
          <p:cNvSpPr/>
          <p:nvPr/>
        </p:nvSpPr>
        <p:spPr>
          <a:xfrm>
            <a:off x="4797552" y="3776472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4770120" y="374904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96" name="Shape 194"/>
          <p:cNvSpPr/>
          <p:nvPr/>
        </p:nvSpPr>
        <p:spPr>
          <a:xfrm>
            <a:off x="5635752" y="3776472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5608320" y="374904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198" name="Shape 196"/>
          <p:cNvSpPr/>
          <p:nvPr/>
        </p:nvSpPr>
        <p:spPr>
          <a:xfrm>
            <a:off x="6473952" y="3776472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6446520" y="374904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00" name="Shape 198"/>
          <p:cNvSpPr/>
          <p:nvPr/>
        </p:nvSpPr>
        <p:spPr>
          <a:xfrm>
            <a:off x="7312152" y="3776472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7284720" y="374904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02" name="Shape 200"/>
          <p:cNvSpPr/>
          <p:nvPr/>
        </p:nvSpPr>
        <p:spPr>
          <a:xfrm>
            <a:off x="8150352" y="3776472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8122920" y="374904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04" name="Shape 202"/>
          <p:cNvSpPr/>
          <p:nvPr/>
        </p:nvSpPr>
        <p:spPr>
          <a:xfrm>
            <a:off x="1828800" y="3936492"/>
            <a:ext cx="7132320" cy="18745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1883664" y="3936492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LMS integration (Brightspace)</a:t>
            </a:r>
            <a:endParaRPr lang="en-US" sz="800" dirty="0"/>
          </a:p>
        </p:txBody>
      </p:sp>
      <p:sp>
        <p:nvSpPr>
          <p:cNvPr id="206" name="Shape 204"/>
          <p:cNvSpPr/>
          <p:nvPr/>
        </p:nvSpPr>
        <p:spPr>
          <a:xfrm>
            <a:off x="3959352" y="3963924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3931920" y="393649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08" name="Shape 206"/>
          <p:cNvSpPr/>
          <p:nvPr/>
        </p:nvSpPr>
        <p:spPr>
          <a:xfrm>
            <a:off x="4797552" y="3963924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4770120" y="393649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210" name="Shape 208"/>
          <p:cNvSpPr/>
          <p:nvPr/>
        </p:nvSpPr>
        <p:spPr>
          <a:xfrm>
            <a:off x="5635752" y="3963924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5608320" y="393649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212" name="Shape 210"/>
          <p:cNvSpPr/>
          <p:nvPr/>
        </p:nvSpPr>
        <p:spPr>
          <a:xfrm>
            <a:off x="6473952" y="3963924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6446520" y="393649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214" name="Shape 212"/>
          <p:cNvSpPr/>
          <p:nvPr/>
        </p:nvSpPr>
        <p:spPr>
          <a:xfrm>
            <a:off x="7312152" y="3963924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7284720" y="393649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216" name="Shape 214"/>
          <p:cNvSpPr/>
          <p:nvPr/>
        </p:nvSpPr>
        <p:spPr>
          <a:xfrm>
            <a:off x="8150352" y="3963924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8122920" y="3936492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18" name="Shape 216"/>
          <p:cNvSpPr/>
          <p:nvPr/>
        </p:nvSpPr>
        <p:spPr>
          <a:xfrm>
            <a:off x="1828800" y="4123944"/>
            <a:ext cx="713232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1883664" y="4123944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Degree audit (DegreeWorks)</a:t>
            </a:r>
            <a:endParaRPr lang="en-US" sz="800" dirty="0"/>
          </a:p>
        </p:txBody>
      </p:sp>
      <p:sp>
        <p:nvSpPr>
          <p:cNvPr id="220" name="Shape 218"/>
          <p:cNvSpPr/>
          <p:nvPr/>
        </p:nvSpPr>
        <p:spPr>
          <a:xfrm>
            <a:off x="3959352" y="4151376"/>
            <a:ext cx="783336" cy="13258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3931920" y="412394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○</a:t>
            </a:r>
            <a:endParaRPr lang="en-US" sz="1200" dirty="0"/>
          </a:p>
        </p:txBody>
      </p:sp>
      <p:sp>
        <p:nvSpPr>
          <p:cNvPr id="222" name="Shape 220"/>
          <p:cNvSpPr/>
          <p:nvPr/>
        </p:nvSpPr>
        <p:spPr>
          <a:xfrm>
            <a:off x="4797552" y="4151376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4770120" y="412394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24" name="Shape 222"/>
          <p:cNvSpPr/>
          <p:nvPr/>
        </p:nvSpPr>
        <p:spPr>
          <a:xfrm>
            <a:off x="5635752" y="4151376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5608320" y="412394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26" name="Shape 224"/>
          <p:cNvSpPr/>
          <p:nvPr/>
        </p:nvSpPr>
        <p:spPr>
          <a:xfrm>
            <a:off x="6473952" y="4151376"/>
            <a:ext cx="783336" cy="13258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6446520" y="412394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○</a:t>
            </a:r>
            <a:endParaRPr lang="en-US" sz="1200" dirty="0"/>
          </a:p>
        </p:txBody>
      </p:sp>
      <p:sp>
        <p:nvSpPr>
          <p:cNvPr id="228" name="Shape 226"/>
          <p:cNvSpPr/>
          <p:nvPr/>
        </p:nvSpPr>
        <p:spPr>
          <a:xfrm>
            <a:off x="7312152" y="4151376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7284720" y="412394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30" name="Shape 228"/>
          <p:cNvSpPr/>
          <p:nvPr/>
        </p:nvSpPr>
        <p:spPr>
          <a:xfrm>
            <a:off x="8150352" y="4151376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8122920" y="4123944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32" name="Shape 230"/>
          <p:cNvSpPr/>
          <p:nvPr/>
        </p:nvSpPr>
        <p:spPr>
          <a:xfrm>
            <a:off x="1828800" y="4311396"/>
            <a:ext cx="7132320" cy="18745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1883664" y="4311396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FERPA &amp; data governance</a:t>
            </a:r>
            <a:endParaRPr lang="en-US" sz="800" dirty="0"/>
          </a:p>
        </p:txBody>
      </p:sp>
      <p:sp>
        <p:nvSpPr>
          <p:cNvPr id="234" name="Shape 232"/>
          <p:cNvSpPr/>
          <p:nvPr/>
        </p:nvSpPr>
        <p:spPr>
          <a:xfrm>
            <a:off x="3959352" y="4338828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3931920" y="431139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36" name="Shape 234"/>
          <p:cNvSpPr/>
          <p:nvPr/>
        </p:nvSpPr>
        <p:spPr>
          <a:xfrm>
            <a:off x="4797552" y="4338828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4770120" y="431139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38" name="Shape 236"/>
          <p:cNvSpPr/>
          <p:nvPr/>
        </p:nvSpPr>
        <p:spPr>
          <a:xfrm>
            <a:off x="5635752" y="4338828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5608320" y="431139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40" name="Shape 238"/>
          <p:cNvSpPr/>
          <p:nvPr/>
        </p:nvSpPr>
        <p:spPr>
          <a:xfrm>
            <a:off x="6473952" y="4338828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6446520" y="431139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42" name="Shape 240"/>
          <p:cNvSpPr/>
          <p:nvPr/>
        </p:nvSpPr>
        <p:spPr>
          <a:xfrm>
            <a:off x="7312152" y="4338828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7284720" y="431139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44" name="Shape 242"/>
          <p:cNvSpPr/>
          <p:nvPr/>
        </p:nvSpPr>
        <p:spPr>
          <a:xfrm>
            <a:off x="8150352" y="4338828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8122920" y="4311396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46" name="Shape 244"/>
          <p:cNvSpPr/>
          <p:nvPr/>
        </p:nvSpPr>
        <p:spPr>
          <a:xfrm>
            <a:off x="1828800" y="4498848"/>
            <a:ext cx="7132320" cy="1874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1883664" y="4498848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WCAG accessibility</a:t>
            </a:r>
            <a:endParaRPr lang="en-US" sz="800" dirty="0"/>
          </a:p>
        </p:txBody>
      </p:sp>
      <p:sp>
        <p:nvSpPr>
          <p:cNvPr id="248" name="Shape 246"/>
          <p:cNvSpPr/>
          <p:nvPr/>
        </p:nvSpPr>
        <p:spPr>
          <a:xfrm>
            <a:off x="3959352" y="4526280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3931920" y="449884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50" name="Shape 248"/>
          <p:cNvSpPr/>
          <p:nvPr/>
        </p:nvSpPr>
        <p:spPr>
          <a:xfrm>
            <a:off x="4797552" y="4526280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4770120" y="449884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52" name="Shape 250"/>
          <p:cNvSpPr/>
          <p:nvPr/>
        </p:nvSpPr>
        <p:spPr>
          <a:xfrm>
            <a:off x="5635752" y="4526280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5608320" y="449884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54" name="Shape 252"/>
          <p:cNvSpPr/>
          <p:nvPr/>
        </p:nvSpPr>
        <p:spPr>
          <a:xfrm>
            <a:off x="6473952" y="4526280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6446520" y="449884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56" name="Shape 254"/>
          <p:cNvSpPr/>
          <p:nvPr/>
        </p:nvSpPr>
        <p:spPr>
          <a:xfrm>
            <a:off x="7312152" y="4526280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7284720" y="449884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258" name="Shape 256"/>
          <p:cNvSpPr/>
          <p:nvPr/>
        </p:nvSpPr>
        <p:spPr>
          <a:xfrm>
            <a:off x="8150352" y="4526280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8122920" y="4498848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60" name="Shape 258"/>
          <p:cNvSpPr/>
          <p:nvPr/>
        </p:nvSpPr>
        <p:spPr>
          <a:xfrm>
            <a:off x="1828800" y="4686300"/>
            <a:ext cx="7132320" cy="18745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1883664" y="4686300"/>
            <a:ext cx="2029968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Scale to 64 campuses</a:t>
            </a:r>
            <a:endParaRPr lang="en-US" sz="800" dirty="0"/>
          </a:p>
        </p:txBody>
      </p:sp>
      <p:sp>
        <p:nvSpPr>
          <p:cNvPr id="262" name="Shape 260"/>
          <p:cNvSpPr/>
          <p:nvPr/>
        </p:nvSpPr>
        <p:spPr>
          <a:xfrm>
            <a:off x="3959352" y="4713732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3931920" y="468630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264" name="Shape 262"/>
          <p:cNvSpPr/>
          <p:nvPr/>
        </p:nvSpPr>
        <p:spPr>
          <a:xfrm>
            <a:off x="4797552" y="4713732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4770120" y="468630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66" name="Shape 264"/>
          <p:cNvSpPr/>
          <p:nvPr/>
        </p:nvSpPr>
        <p:spPr>
          <a:xfrm>
            <a:off x="5635752" y="4713732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5608320" y="468630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68" name="Shape 266"/>
          <p:cNvSpPr/>
          <p:nvPr/>
        </p:nvSpPr>
        <p:spPr>
          <a:xfrm>
            <a:off x="6473952" y="4713732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6446520" y="468630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70" name="Shape 268"/>
          <p:cNvSpPr/>
          <p:nvPr/>
        </p:nvSpPr>
        <p:spPr>
          <a:xfrm>
            <a:off x="7312152" y="4713732"/>
            <a:ext cx="783336" cy="13258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7284720" y="468630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◐</a:t>
            </a:r>
            <a:endParaRPr lang="en-US" sz="1200" dirty="0"/>
          </a:p>
        </p:txBody>
      </p:sp>
      <p:sp>
        <p:nvSpPr>
          <p:cNvPr id="272" name="Shape 270"/>
          <p:cNvSpPr/>
          <p:nvPr/>
        </p:nvSpPr>
        <p:spPr>
          <a:xfrm>
            <a:off x="8150352" y="4713732"/>
            <a:ext cx="783336" cy="1325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8122920" y="4686300"/>
            <a:ext cx="8382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●</a:t>
            </a:r>
            <a:endParaRPr lang="en-US" sz="1200" dirty="0"/>
          </a:p>
        </p:txBody>
      </p:sp>
      <p:sp>
        <p:nvSpPr>
          <p:cNvPr id="274" name="Shape 27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1828800" y="4983480"/>
            <a:ext cx="713232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2159"/>
                </a:solidFill>
              </a:rPr>
              <a:t>SUNY</a:t>
            </a:r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  THE STATE UNIVERSITY OF NEW YORK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2026-02-26T21:52:25Z</dcterms:created>
  <dcterms:modified xsi:type="dcterms:W3CDTF">2026-02-26T21:52:25Z</dcterms:modified>
</cp:coreProperties>
</file>